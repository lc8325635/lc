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65" r:id="rId4"/>
    <p:sldId id="257" r:id="rId5"/>
    <p:sldId id="272" r:id="rId6"/>
    <p:sldId id="266" r:id="rId7"/>
    <p:sldId id="273" r:id="rId8"/>
    <p:sldId id="267" r:id="rId9"/>
    <p:sldId id="274" r:id="rId10"/>
    <p:sldId id="268" r:id="rId11"/>
    <p:sldId id="269" r:id="rId12"/>
    <p:sldId id="275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190A-41C4-6C21-9CD4-530CD4B10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85743-529B-1553-775B-85A229C1C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DFD78-B1A4-9A24-CB0D-97FEE2338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FF97-5253-79EA-363A-BCBE2C03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C41-BB96-8B5D-3DD1-41EE6BA8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0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1064-FB0F-0686-F23F-1A64E76A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47118-4FFE-824C-37DE-95BBF7405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1FD33-7F5D-46FC-DA55-D64B298C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91917-A8DE-0178-B999-C958ECED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38C47-795C-5EC9-62A8-3BE78E0E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7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F89EF-B58E-601A-67A3-43CED8E6E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07159-FCB3-3210-02F2-414330284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76420-B25C-233F-C1CA-F98F6CAD6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6734B-B6E9-34E7-55DC-7C135990F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748A3-B8A8-5066-16CB-90D23D5C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8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4AAD-AF72-A3BE-9869-2486F170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9B29-D263-8221-D0D3-C80F51447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E6101-5352-0201-399E-9B3C67246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76883-ACE3-3097-5BEE-EA8F13F0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9E57F-AF12-D802-18B8-FC7DD84D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866A4-E8DC-1455-4C5A-DCA90344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1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6E34-7968-C9BD-B32F-4DBA4F2A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46D5F-B4F9-699A-F439-7E5BA6704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26941-1086-DCF9-3834-26D1C748F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7D06D-1C34-0E4D-6DCE-9C5A77AA3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8F7D3-120C-28B6-85B5-E115EB844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BCF084-D8F3-4B18-2B08-D06F4F97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BD752-181F-7430-F7A3-4D6D0505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3EEA10-7F1D-0F14-FFB1-9D6C7D6D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D71AB-E4F8-353C-4591-FDA4945D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054A97-A744-55D2-0A81-FF71F8B0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2078F-BEBC-59F7-17EB-D4E33D8D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7B3DA-ED64-227D-84CE-2E040958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6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D3800-7E3B-662E-A311-BA1462F4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668CD-C518-A9FB-3075-CFEA437F9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A2566-5507-0C80-9DC1-EA1D85F9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80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0B0E-8CE5-62FC-F9D9-2D582308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E1A7A-ABBC-4885-8009-5A2F46108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AA012-D543-CCA1-B1FB-16F01B8F0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2FFE0-186D-EFAC-F563-9787EB10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8451C-A984-2938-2B5E-8390080E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966E1-7D34-04F0-2409-DE37F241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90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12C87-F0BF-464E-494C-66264CDC5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534AAA-4EC3-EA80-A309-949349747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F8F9E-2EFD-FBA2-DC8B-DED6791CA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4E3B2-99DA-7A0C-022B-1390BC69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4D8BF-6E87-EEE9-4C17-8247F9F7F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9AD03-F164-6E20-0B2E-DFC7D370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3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2D7F0-BDC3-963B-5006-DF44F230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AD3A6-6D25-5FC6-AFD7-24032FEDF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62357-8084-41E1-DE39-E5FF79DE7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327B1-74A9-9E80-9756-A29F70123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F770F-7AB3-4BE3-7B2E-5851BA53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81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807129-4723-CDAA-FA8B-4118DE167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8200C7-F5B9-CDC7-A529-1053E575B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1FD80-5324-0005-F1E1-3D9E0F867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2B203-F670-5252-070A-E8DE9A2EE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759A3-DFFB-94EA-1E06-99CAA00B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B101BC-9E30-D4D0-9AF0-F2F87B8A1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8D1B2-EF98-FC8E-26CE-3EC3CE95A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877CA-AA76-0D82-E6CA-38DA928FB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E3CFB-9609-4A93-82AF-4B9FB4C1E02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D3159-56F9-B8B3-E45A-A3594667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17552-CA6A-7E19-C2FC-B7D535784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64180-0358-41BF-B8F8-EE417DAF9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3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6EC8C2-1CD3-4C6A-B893-AC72CA743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41" y="279628"/>
            <a:ext cx="1781065" cy="17810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A1CF92-67B3-BF4A-1D04-79A3F0281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540" y="2685367"/>
            <a:ext cx="1919288" cy="19192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8DB13B-138F-0305-06CF-5838E3AF2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430" y="2718027"/>
            <a:ext cx="1919288" cy="19192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62CF75-FC0D-3DED-CBD3-0D6F3C1A5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916" y="2685367"/>
            <a:ext cx="1919289" cy="19192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12BE95-94BA-F065-E0A7-08C78473FF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320" y="2718026"/>
            <a:ext cx="1919289" cy="19192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8ECC2A46-B93A-284E-D211-B6771FEB2DE6}"/>
              </a:ext>
            </a:extLst>
          </p:cNvPr>
          <p:cNvSpPr/>
          <p:nvPr/>
        </p:nvSpPr>
        <p:spPr>
          <a:xfrm>
            <a:off x="2392326" y="404037"/>
            <a:ext cx="9579934" cy="1520456"/>
          </a:xfrm>
          <a:prstGeom prst="wedgeRoundRectCallout">
            <a:avLst>
              <a:gd name="adj1" fmla="val -54821"/>
              <a:gd name="adj2" fmla="val 1704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You have probably seen </a:t>
            </a:r>
            <a:r>
              <a:rPr lang="en-US" sz="2800" b="1" dirty="0"/>
              <a:t>image filters</a:t>
            </a:r>
            <a:r>
              <a:rPr lang="en-US" sz="2800" dirty="0"/>
              <a:t> before.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Can you match the name of each image filter to the output?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E3EE5E-4A9F-FFE5-0CA6-1A5518D245F6}"/>
              </a:ext>
            </a:extLst>
          </p:cNvPr>
          <p:cNvSpPr txBox="1"/>
          <p:nvPr/>
        </p:nvSpPr>
        <p:spPr>
          <a:xfrm>
            <a:off x="1788548" y="2195849"/>
            <a:ext cx="813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700458-A89C-EA68-3FC1-C1C1111FD6AE}"/>
              </a:ext>
            </a:extLst>
          </p:cNvPr>
          <p:cNvSpPr txBox="1"/>
          <p:nvPr/>
        </p:nvSpPr>
        <p:spPr>
          <a:xfrm>
            <a:off x="4441616" y="2195849"/>
            <a:ext cx="813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BA4B92-63E7-7308-B072-80DD8FB3ED60}"/>
              </a:ext>
            </a:extLst>
          </p:cNvPr>
          <p:cNvSpPr txBox="1"/>
          <p:nvPr/>
        </p:nvSpPr>
        <p:spPr>
          <a:xfrm>
            <a:off x="7094684" y="2195849"/>
            <a:ext cx="813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184F90-8BFB-C3E7-DC5B-E3CC660C8983}"/>
              </a:ext>
            </a:extLst>
          </p:cNvPr>
          <p:cNvSpPr txBox="1"/>
          <p:nvPr/>
        </p:nvSpPr>
        <p:spPr>
          <a:xfrm>
            <a:off x="9747753" y="2194806"/>
            <a:ext cx="813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2F745C-AA61-8A6D-0511-6BBA58956BE0}"/>
              </a:ext>
            </a:extLst>
          </p:cNvPr>
          <p:cNvSpPr txBox="1"/>
          <p:nvPr/>
        </p:nvSpPr>
        <p:spPr>
          <a:xfrm>
            <a:off x="5254753" y="4933508"/>
            <a:ext cx="25455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US" sz="2800" b="1" dirty="0"/>
              <a:t> </a:t>
            </a:r>
            <a:r>
              <a:rPr lang="en-US" sz="2800" dirty="0"/>
              <a:t>Emboss</a:t>
            </a:r>
          </a:p>
          <a:p>
            <a:pPr marL="342900" indent="-342900">
              <a:buAutoNum type="alphaLcPeriod"/>
            </a:pPr>
            <a:r>
              <a:rPr lang="en-US" sz="2800" b="1" dirty="0"/>
              <a:t> </a:t>
            </a:r>
            <a:r>
              <a:rPr lang="en-US" sz="2800" dirty="0"/>
              <a:t>Blur</a:t>
            </a:r>
          </a:p>
          <a:p>
            <a:pPr marL="342900" indent="-342900">
              <a:buAutoNum type="alphaLcPeriod"/>
            </a:pPr>
            <a:r>
              <a:rPr lang="en-US" sz="2800" b="1" dirty="0"/>
              <a:t> </a:t>
            </a:r>
            <a:r>
              <a:rPr lang="en-US" sz="2800" dirty="0"/>
              <a:t>Edge detect</a:t>
            </a:r>
          </a:p>
          <a:p>
            <a:pPr marL="342900" indent="-342900">
              <a:buAutoNum type="alphaLcPeriod"/>
            </a:pPr>
            <a:r>
              <a:rPr lang="en-US" sz="2800" b="1" dirty="0"/>
              <a:t> </a:t>
            </a:r>
            <a:r>
              <a:rPr lang="en-US" sz="2800" dirty="0"/>
              <a:t>Brighten</a:t>
            </a:r>
          </a:p>
        </p:txBody>
      </p:sp>
    </p:spTree>
    <p:extLst>
      <p:ext uri="{BB962C8B-B14F-4D97-AF65-F5344CB8AC3E}">
        <p14:creationId xmlns:p14="http://schemas.microsoft.com/office/powerpoint/2010/main" val="1149816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4F4F4-AB18-ACF4-7337-CE9EE652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8D6DE3-B835-326B-D06A-CD4B8EE03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41" y="279628"/>
            <a:ext cx="1781065" cy="17810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D45D02-7280-E23B-6472-62DC20FDD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540" y="2685367"/>
            <a:ext cx="1919288" cy="19192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EA3076-1727-5DCB-E2A5-14D45BF7C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430" y="2718027"/>
            <a:ext cx="1919288" cy="19192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9CE225-17CF-46E5-11E3-772947519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916" y="2685367"/>
            <a:ext cx="1919289" cy="19192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B975A9-CCBA-074A-C303-E2776BFB30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320" y="2718026"/>
            <a:ext cx="1919289" cy="19192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1E08255-8A0A-4B3B-DADB-FB1613E68C4C}"/>
              </a:ext>
            </a:extLst>
          </p:cNvPr>
          <p:cNvSpPr txBox="1"/>
          <p:nvPr/>
        </p:nvSpPr>
        <p:spPr>
          <a:xfrm>
            <a:off x="1788548" y="2195849"/>
            <a:ext cx="813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57F035-1A4A-0197-A71F-850A1E9CD4E4}"/>
              </a:ext>
            </a:extLst>
          </p:cNvPr>
          <p:cNvSpPr txBox="1"/>
          <p:nvPr/>
        </p:nvSpPr>
        <p:spPr>
          <a:xfrm>
            <a:off x="4441616" y="2195849"/>
            <a:ext cx="813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328C66-FC5D-F77E-7CEE-84B140581F1B}"/>
              </a:ext>
            </a:extLst>
          </p:cNvPr>
          <p:cNvSpPr txBox="1"/>
          <p:nvPr/>
        </p:nvSpPr>
        <p:spPr>
          <a:xfrm>
            <a:off x="7094684" y="2195849"/>
            <a:ext cx="813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33EA20-8E99-D4B6-1FE3-94EBD36305CA}"/>
              </a:ext>
            </a:extLst>
          </p:cNvPr>
          <p:cNvSpPr txBox="1"/>
          <p:nvPr/>
        </p:nvSpPr>
        <p:spPr>
          <a:xfrm>
            <a:off x="9747753" y="2194806"/>
            <a:ext cx="813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C557E0-0B54-628F-48B6-5719233118DF}"/>
              </a:ext>
            </a:extLst>
          </p:cNvPr>
          <p:cNvSpPr txBox="1"/>
          <p:nvPr/>
        </p:nvSpPr>
        <p:spPr>
          <a:xfrm>
            <a:off x="5254752" y="4933508"/>
            <a:ext cx="48145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eriod"/>
            </a:pPr>
            <a:r>
              <a:rPr lang="en-US" sz="2800" b="1" dirty="0"/>
              <a:t> </a:t>
            </a:r>
            <a:r>
              <a:rPr lang="en-US" sz="2800" dirty="0"/>
              <a:t>Emboss - </a:t>
            </a:r>
            <a:r>
              <a:rPr lang="zh-CN" altLang="en-US" sz="2800" dirty="0"/>
              <a:t>压花</a:t>
            </a:r>
            <a:endParaRPr lang="en-US" sz="2800" dirty="0"/>
          </a:p>
          <a:p>
            <a:pPr marL="342900" indent="-342900">
              <a:buAutoNum type="alphaLcPeriod"/>
            </a:pPr>
            <a:r>
              <a:rPr lang="en-US" sz="2800" b="1" dirty="0"/>
              <a:t> </a:t>
            </a:r>
            <a:r>
              <a:rPr lang="en-US" sz="2800" dirty="0"/>
              <a:t>Blur - </a:t>
            </a:r>
            <a:r>
              <a:rPr lang="zh-CN" altLang="en-US" sz="2800" dirty="0"/>
              <a:t>模糊</a:t>
            </a:r>
            <a:endParaRPr lang="en-US" sz="2800" dirty="0"/>
          </a:p>
          <a:p>
            <a:pPr marL="342900" indent="-342900">
              <a:buAutoNum type="alphaLcPeriod"/>
            </a:pPr>
            <a:r>
              <a:rPr lang="en-US" sz="2800" b="1" dirty="0"/>
              <a:t> </a:t>
            </a:r>
            <a:r>
              <a:rPr lang="en-US" sz="2800" dirty="0"/>
              <a:t>Edge detect - </a:t>
            </a:r>
            <a:r>
              <a:rPr lang="zh-CN" altLang="en-US" sz="2800" dirty="0"/>
              <a:t>边缘检测</a:t>
            </a:r>
            <a:endParaRPr lang="en-US" sz="2800" dirty="0"/>
          </a:p>
          <a:p>
            <a:pPr marL="342900" indent="-342900">
              <a:buAutoNum type="alphaLcPeriod"/>
            </a:pPr>
            <a:r>
              <a:rPr lang="en-US" sz="2800" b="1" dirty="0"/>
              <a:t> </a:t>
            </a:r>
            <a:r>
              <a:rPr lang="en-US" sz="2800" dirty="0"/>
              <a:t>Brighten - </a:t>
            </a:r>
            <a:r>
              <a:rPr lang="zh-CN" altLang="en-US" sz="2800" dirty="0"/>
              <a:t>明亮</a:t>
            </a:r>
            <a:endParaRPr lang="en-US" sz="2800" dirty="0"/>
          </a:p>
        </p:txBody>
      </p:sp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A7F671DC-FC44-3D7D-BD52-830C2F796A34}"/>
              </a:ext>
            </a:extLst>
          </p:cNvPr>
          <p:cNvSpPr/>
          <p:nvPr/>
        </p:nvSpPr>
        <p:spPr>
          <a:xfrm>
            <a:off x="2381440" y="429591"/>
            <a:ext cx="9579934" cy="1520456"/>
          </a:xfrm>
          <a:prstGeom prst="wedgeRoundRectCallout">
            <a:avLst>
              <a:gd name="adj1" fmla="val -54821"/>
              <a:gd name="adj2" fmla="val 1704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你可能见过图像滤镜。</a:t>
            </a:r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r>
              <a:rPr lang="zh-CN" altLang="en-US" sz="2800" dirty="0"/>
              <a:t>你能把每个图像滤镜的名称和输出匹配吗？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7440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4A0989-859F-7768-FDCD-C15C49DCC3F6}"/>
              </a:ext>
            </a:extLst>
          </p:cNvPr>
          <p:cNvSpPr txBox="1"/>
          <p:nvPr/>
        </p:nvSpPr>
        <p:spPr>
          <a:xfrm>
            <a:off x="462337" y="2984127"/>
            <a:ext cx="112193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u="sng" dirty="0"/>
              <a:t>Convolutions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23725-174E-9759-6B5D-2FD7C73275D5}"/>
              </a:ext>
            </a:extLst>
          </p:cNvPr>
          <p:cNvSpPr txBox="1"/>
          <p:nvPr/>
        </p:nvSpPr>
        <p:spPr>
          <a:xfrm>
            <a:off x="7510409" y="174661"/>
            <a:ext cx="4294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46C2981-7EAB-4B3A-B427-1CF598C22540}" type="datetime3">
              <a:rPr lang="en-US" sz="2400" smtClean="0"/>
              <a:pPr algn="r"/>
              <a:t>2 June 2026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74191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96CE73-32AB-51FC-3198-D5CB949201FC}"/>
              </a:ext>
            </a:extLst>
          </p:cNvPr>
          <p:cNvSpPr txBox="1"/>
          <p:nvPr/>
        </p:nvSpPr>
        <p:spPr>
          <a:xfrm>
            <a:off x="264300" y="270379"/>
            <a:ext cx="116041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Suppose that we want to store an image in a computer.</a:t>
            </a:r>
          </a:p>
          <a:p>
            <a:pPr algn="ctr"/>
            <a:r>
              <a:rPr lang="en-US" sz="2800" dirty="0"/>
              <a:t>In this lesson, we will just consider black and white images.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A66B1C-E825-D8B6-B78E-463ACA43F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855" y="1777191"/>
            <a:ext cx="2953063" cy="2953063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36F28D4-0616-B176-4A12-92CEA2700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241068"/>
              </p:ext>
            </p:extLst>
          </p:nvPr>
        </p:nvGraphicFramePr>
        <p:xfrm>
          <a:off x="8644322" y="1777191"/>
          <a:ext cx="3231992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3999">
                  <a:extLst>
                    <a:ext uri="{9D8B030D-6E8A-4147-A177-3AD203B41FA5}">
                      <a16:colId xmlns:a16="http://schemas.microsoft.com/office/drawing/2014/main" val="2991476674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2334414399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507263340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807354997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450497332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597831565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903935050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852669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642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637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58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31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65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11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806402"/>
                  </a:ext>
                </a:extLst>
              </a:tr>
            </a:tbl>
          </a:graphicData>
        </a:graphic>
      </p:graphicFrame>
      <p:sp>
        <p:nvSpPr>
          <p:cNvPr id="11" name="Arrow: Right 10">
            <a:extLst>
              <a:ext uri="{FF2B5EF4-FFF2-40B4-BE49-F238E27FC236}">
                <a16:creationId xmlns:a16="http://schemas.microsoft.com/office/drawing/2014/main" id="{02E6D323-FC5D-D4C1-9A2F-3931AE6FA5BA}"/>
              </a:ext>
            </a:extLst>
          </p:cNvPr>
          <p:cNvSpPr/>
          <p:nvPr/>
        </p:nvSpPr>
        <p:spPr>
          <a:xfrm>
            <a:off x="3637877" y="2826450"/>
            <a:ext cx="718457" cy="67491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AC3C79F-B875-C0F5-A365-8F7669A1553C}"/>
              </a:ext>
            </a:extLst>
          </p:cNvPr>
          <p:cNvSpPr/>
          <p:nvPr/>
        </p:nvSpPr>
        <p:spPr>
          <a:xfrm>
            <a:off x="7776439" y="2810401"/>
            <a:ext cx="718457" cy="67491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F29534-A782-E14D-92DE-03585CDA9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454" y="1382486"/>
            <a:ext cx="3885768" cy="38922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8D3F713-5EA5-804E-09B4-07C6AA2A2EB4}"/>
              </a:ext>
            </a:extLst>
          </p:cNvPr>
          <p:cNvSpPr txBox="1"/>
          <p:nvPr/>
        </p:nvSpPr>
        <p:spPr>
          <a:xfrm>
            <a:off x="264299" y="5333742"/>
            <a:ext cx="116041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First, we convert the image to pixels.</a:t>
            </a:r>
          </a:p>
          <a:p>
            <a:pPr algn="ctr"/>
            <a:r>
              <a:rPr lang="en-US" sz="2800" dirty="0"/>
              <a:t>Each pixel is stored as 0 (white) or 1 (black).</a:t>
            </a:r>
          </a:p>
          <a:p>
            <a:pPr algn="ctr"/>
            <a:r>
              <a:rPr lang="en-US" sz="2800" dirty="0"/>
              <a:t>We can also store grey values as numbers between 0 and 1.</a:t>
            </a:r>
          </a:p>
        </p:txBody>
      </p:sp>
    </p:spTree>
    <p:extLst>
      <p:ext uri="{BB962C8B-B14F-4D97-AF65-F5344CB8AC3E}">
        <p14:creationId xmlns:p14="http://schemas.microsoft.com/office/powerpoint/2010/main" val="527245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6A506-461A-3665-00D2-CD9970A8C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5ADC1B-5E77-B5BE-D325-6D9DB1293C57}"/>
              </a:ext>
            </a:extLst>
          </p:cNvPr>
          <p:cNvSpPr txBox="1"/>
          <p:nvPr/>
        </p:nvSpPr>
        <p:spPr>
          <a:xfrm>
            <a:off x="264300" y="270379"/>
            <a:ext cx="116041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假设我们想在计算机中存储一张图像。</a:t>
            </a:r>
            <a:endParaRPr lang="en-US" altLang="zh-CN" sz="2800" dirty="0"/>
          </a:p>
          <a:p>
            <a:pPr algn="ctr"/>
            <a:r>
              <a:rPr lang="zh-CN" altLang="en-US" sz="2800" dirty="0"/>
              <a:t>本课我们只考虑黑白图像。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660828-7F8D-53B9-1815-1EDD69D62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855" y="1777191"/>
            <a:ext cx="2953063" cy="2953063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67DB49-4DFB-78A2-853D-A9C4CA0E7A60}"/>
              </a:ext>
            </a:extLst>
          </p:cNvPr>
          <p:cNvGraphicFramePr>
            <a:graphicFrameLocks noGrp="1"/>
          </p:cNvGraphicFramePr>
          <p:nvPr/>
        </p:nvGraphicFramePr>
        <p:xfrm>
          <a:off x="8644322" y="1777191"/>
          <a:ext cx="3231992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3999">
                  <a:extLst>
                    <a:ext uri="{9D8B030D-6E8A-4147-A177-3AD203B41FA5}">
                      <a16:colId xmlns:a16="http://schemas.microsoft.com/office/drawing/2014/main" val="2991476674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2334414399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507263340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807354997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450497332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597831565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903935050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852669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642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637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58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31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65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11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806402"/>
                  </a:ext>
                </a:extLst>
              </a:tr>
            </a:tbl>
          </a:graphicData>
        </a:graphic>
      </p:graphicFrame>
      <p:sp>
        <p:nvSpPr>
          <p:cNvPr id="11" name="Arrow: Right 10">
            <a:extLst>
              <a:ext uri="{FF2B5EF4-FFF2-40B4-BE49-F238E27FC236}">
                <a16:creationId xmlns:a16="http://schemas.microsoft.com/office/drawing/2014/main" id="{A5A5807D-879A-E4A0-5F2A-13C6E21B7264}"/>
              </a:ext>
            </a:extLst>
          </p:cNvPr>
          <p:cNvSpPr/>
          <p:nvPr/>
        </p:nvSpPr>
        <p:spPr>
          <a:xfrm>
            <a:off x="3637877" y="2826450"/>
            <a:ext cx="718457" cy="67491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11E97EB-0878-E513-0110-0648E560071D}"/>
              </a:ext>
            </a:extLst>
          </p:cNvPr>
          <p:cNvSpPr/>
          <p:nvPr/>
        </p:nvSpPr>
        <p:spPr>
          <a:xfrm>
            <a:off x="7776439" y="2810401"/>
            <a:ext cx="718457" cy="67491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EFB72C-C04C-F2C3-0049-467935B18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454" y="1382486"/>
            <a:ext cx="3885768" cy="38922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A39C765-7303-CDF7-DCBD-426169307D56}"/>
              </a:ext>
            </a:extLst>
          </p:cNvPr>
          <p:cNvSpPr txBox="1"/>
          <p:nvPr/>
        </p:nvSpPr>
        <p:spPr>
          <a:xfrm>
            <a:off x="264299" y="5333742"/>
            <a:ext cx="116041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首先，我们将图像转换为像素。 </a:t>
            </a:r>
            <a:endParaRPr lang="en-US" altLang="zh-CN" sz="2800" dirty="0"/>
          </a:p>
          <a:p>
            <a:pPr algn="ctr"/>
            <a:r>
              <a:rPr lang="zh-CN" altLang="en-US" sz="2800" dirty="0"/>
              <a:t>每个像素被存储为</a:t>
            </a:r>
            <a:r>
              <a:rPr lang="en-US" altLang="zh-CN" sz="2800" dirty="0"/>
              <a:t>0</a:t>
            </a:r>
            <a:r>
              <a:rPr lang="zh-CN" altLang="en-US" sz="2800" dirty="0"/>
              <a:t>（白色）或</a:t>
            </a:r>
            <a:r>
              <a:rPr lang="en-US" altLang="zh-CN" sz="2800" dirty="0"/>
              <a:t>1</a:t>
            </a:r>
            <a:r>
              <a:rPr lang="zh-CN" altLang="en-US" sz="2800" dirty="0"/>
              <a:t>（黑色）。 </a:t>
            </a:r>
            <a:endParaRPr lang="en-US" altLang="zh-CN" sz="2800" dirty="0"/>
          </a:p>
          <a:p>
            <a:pPr algn="ctr"/>
            <a:r>
              <a:rPr lang="zh-CN" altLang="en-US" sz="2800" dirty="0"/>
              <a:t>我们也可以将灰色值存储为</a:t>
            </a:r>
            <a:r>
              <a:rPr lang="en-US" altLang="zh-CN" sz="2800" dirty="0"/>
              <a:t>0</a:t>
            </a:r>
            <a:r>
              <a:rPr lang="zh-CN" altLang="en-US" sz="2800" dirty="0"/>
              <a:t>到</a:t>
            </a:r>
            <a:r>
              <a:rPr lang="en-US" altLang="zh-CN" sz="2800" dirty="0"/>
              <a:t>1</a:t>
            </a:r>
            <a:r>
              <a:rPr lang="zh-CN" altLang="en-US" sz="2800" dirty="0"/>
              <a:t>之间的数字。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76727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F7E93F-FB7E-23A7-E71C-51612274CA76}"/>
              </a:ext>
            </a:extLst>
          </p:cNvPr>
          <p:cNvSpPr txBox="1"/>
          <p:nvPr/>
        </p:nvSpPr>
        <p:spPr>
          <a:xfrm>
            <a:off x="264300" y="270379"/>
            <a:ext cx="1160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Now we can make a simple filter using an image </a:t>
            </a:r>
            <a:r>
              <a:rPr lang="en-US" sz="2800" b="1" dirty="0"/>
              <a:t>convolution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7478CD-C53B-C224-5E83-039D5EF102D4}"/>
              </a:ext>
            </a:extLst>
          </p:cNvPr>
          <p:cNvSpPr txBox="1"/>
          <p:nvPr/>
        </p:nvSpPr>
        <p:spPr>
          <a:xfrm>
            <a:off x="293914" y="1207683"/>
            <a:ext cx="1160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 </a:t>
            </a:r>
            <a:r>
              <a:rPr lang="en-US" sz="2800" b="1" dirty="0"/>
              <a:t>convolution matrix </a:t>
            </a:r>
            <a:r>
              <a:rPr lang="en-US" sz="2800" dirty="0"/>
              <a:t>is a 3×3 grid of numbers like this.</a:t>
            </a:r>
            <a:endParaRPr lang="en-US" sz="2800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C8CDF6-7DC5-B632-B805-D87027A81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088759"/>
              </p:ext>
            </p:extLst>
          </p:nvPr>
        </p:nvGraphicFramePr>
        <p:xfrm>
          <a:off x="1257300" y="2150532"/>
          <a:ext cx="2819400" cy="2556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302795796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419274834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402371079"/>
                    </a:ext>
                  </a:extLst>
                </a:gridCol>
              </a:tblGrid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447670"/>
                  </a:ext>
                </a:extLst>
              </a:tr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826020"/>
                  </a:ext>
                </a:extLst>
              </a:tr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08180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3AA2B94-A0CE-C90A-D0DE-9F2F13B38CD4}"/>
              </a:ext>
            </a:extLst>
          </p:cNvPr>
          <p:cNvSpPr txBox="1"/>
          <p:nvPr/>
        </p:nvSpPr>
        <p:spPr>
          <a:xfrm>
            <a:off x="4435928" y="3001050"/>
            <a:ext cx="7187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Open up lesson </a:t>
            </a:r>
            <a:r>
              <a:rPr lang="en-US" sz="2800" b="1" dirty="0"/>
              <a:t>260201</a:t>
            </a:r>
            <a:r>
              <a:rPr lang="en-US" sz="2800" dirty="0"/>
              <a:t> on the website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E8F52F-CD81-9531-2960-AAC14D808EED}"/>
              </a:ext>
            </a:extLst>
          </p:cNvPr>
          <p:cNvSpPr txBox="1"/>
          <p:nvPr/>
        </p:nvSpPr>
        <p:spPr>
          <a:xfrm>
            <a:off x="2939143" y="5127097"/>
            <a:ext cx="84799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Enter this convolution matrix onto the page.</a:t>
            </a:r>
          </a:p>
          <a:p>
            <a:r>
              <a:rPr lang="en-US" sz="2800" dirty="0"/>
              <a:t>Click the </a:t>
            </a:r>
            <a:r>
              <a:rPr lang="en-US" sz="2800" b="1" dirty="0"/>
              <a:t>Apply Filter</a:t>
            </a:r>
            <a:r>
              <a:rPr lang="en-US" sz="2800" dirty="0"/>
              <a:t> button to see the effect.</a:t>
            </a:r>
          </a:p>
          <a:p>
            <a:r>
              <a:rPr lang="en-US" sz="2800" dirty="0"/>
              <a:t>Think back to the starter. What type of filter is this?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1EDE64-4B8E-B4EF-FEB2-89069DDEC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858" y="5056990"/>
            <a:ext cx="1506142" cy="152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8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49679-89F2-EBDF-7CC5-2DF5E0336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4E4D0C-C8E1-AD4A-6204-766B7CB7F5DD}"/>
              </a:ext>
            </a:extLst>
          </p:cNvPr>
          <p:cNvSpPr txBox="1"/>
          <p:nvPr/>
        </p:nvSpPr>
        <p:spPr>
          <a:xfrm>
            <a:off x="264300" y="270379"/>
            <a:ext cx="1160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现在我们可以用图像卷积做一个简单的</a:t>
            </a:r>
            <a:r>
              <a:rPr lang="zh-CN" altLang="en-US" sz="2800" b="1" dirty="0"/>
              <a:t>滤波器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9A16E-6671-594D-2249-EDB74ABE4910}"/>
              </a:ext>
            </a:extLst>
          </p:cNvPr>
          <p:cNvSpPr txBox="1"/>
          <p:nvPr/>
        </p:nvSpPr>
        <p:spPr>
          <a:xfrm>
            <a:off x="293914" y="1207683"/>
            <a:ext cx="1160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卷积矩阵是一个</a:t>
            </a:r>
            <a:r>
              <a:rPr lang="en-US" altLang="zh-CN" sz="2800" dirty="0"/>
              <a:t>3×3</a:t>
            </a:r>
            <a:r>
              <a:rPr lang="zh-CN" altLang="en-US" sz="2800" dirty="0"/>
              <a:t>的数字网格，类似这样的。</a:t>
            </a:r>
            <a:endParaRPr lang="en-US" sz="2800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C6CDCA-BCA6-5B03-6160-9B2CAE29C160}"/>
              </a:ext>
            </a:extLst>
          </p:cNvPr>
          <p:cNvGraphicFramePr>
            <a:graphicFrameLocks noGrp="1"/>
          </p:cNvGraphicFramePr>
          <p:nvPr/>
        </p:nvGraphicFramePr>
        <p:xfrm>
          <a:off x="1257300" y="2150532"/>
          <a:ext cx="2819400" cy="2556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302795796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419274834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402371079"/>
                    </a:ext>
                  </a:extLst>
                </a:gridCol>
              </a:tblGrid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447670"/>
                  </a:ext>
                </a:extLst>
              </a:tr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826020"/>
                  </a:ext>
                </a:extLst>
              </a:tr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08180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A1F8AE3-582D-B404-22CF-102067D046C1}"/>
              </a:ext>
            </a:extLst>
          </p:cNvPr>
          <p:cNvSpPr txBox="1"/>
          <p:nvPr/>
        </p:nvSpPr>
        <p:spPr>
          <a:xfrm>
            <a:off x="4521344" y="3167390"/>
            <a:ext cx="7187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在网站上打开课程</a:t>
            </a:r>
            <a:r>
              <a:rPr lang="en-US" altLang="zh-CN" sz="2800" b="1" dirty="0"/>
              <a:t>260201</a:t>
            </a:r>
            <a:endParaRPr lang="en-US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D90C8-82FD-A0DD-3EFA-95820D67F0B5}"/>
              </a:ext>
            </a:extLst>
          </p:cNvPr>
          <p:cNvSpPr txBox="1"/>
          <p:nvPr/>
        </p:nvSpPr>
        <p:spPr>
          <a:xfrm>
            <a:off x="2939143" y="5127097"/>
            <a:ext cx="84799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将这个卷积矩阵输入到页面上。 </a:t>
            </a:r>
            <a:endParaRPr lang="en-US" altLang="zh-CN" sz="2800" dirty="0"/>
          </a:p>
          <a:p>
            <a:r>
              <a:rPr lang="zh-CN" altLang="en-US" sz="2800" dirty="0"/>
              <a:t>点击“</a:t>
            </a:r>
            <a:r>
              <a:rPr lang="en-US" altLang="zh-CN" sz="2800" b="1" dirty="0"/>
              <a:t>Apply Filter</a:t>
            </a:r>
            <a:r>
              <a:rPr lang="zh-CN" altLang="en-US" sz="2800" dirty="0"/>
              <a:t>”按钮查看效果。</a:t>
            </a:r>
            <a:endParaRPr lang="en-US" altLang="zh-CN" sz="2800" dirty="0"/>
          </a:p>
          <a:p>
            <a:r>
              <a:rPr lang="zh-CN" altLang="en-US" sz="2800" dirty="0"/>
              <a:t>回想一下导入。这是什么类型的过滤器？</a:t>
            </a:r>
            <a:endParaRPr lang="en-US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3C1BD1-E58D-B0DA-8654-525E3C5EF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858" y="5056990"/>
            <a:ext cx="1506142" cy="152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36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A85A4-0B96-05B5-AC0C-03479105C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2425B9-0FA8-D863-FA97-B20D781B4B71}"/>
              </a:ext>
            </a:extLst>
          </p:cNvPr>
          <p:cNvSpPr txBox="1"/>
          <p:nvPr/>
        </p:nvSpPr>
        <p:spPr>
          <a:xfrm>
            <a:off x="264300" y="270379"/>
            <a:ext cx="1160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 convolution works on each 3×3 square of pixels in the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AD529-395D-67AD-EF30-994AC192A0D1}"/>
              </a:ext>
            </a:extLst>
          </p:cNvPr>
          <p:cNvSpPr txBox="1"/>
          <p:nvPr/>
        </p:nvSpPr>
        <p:spPr>
          <a:xfrm>
            <a:off x="458265" y="1043246"/>
            <a:ext cx="1160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Each pixel is multiplied by the matching number in the convolution matrix.</a:t>
            </a:r>
            <a:endParaRPr lang="en-US" sz="28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685ED4-E585-0580-4B43-FBE10E84A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96523"/>
              </p:ext>
            </p:extLst>
          </p:nvPr>
        </p:nvGraphicFramePr>
        <p:xfrm>
          <a:off x="458265" y="3620901"/>
          <a:ext cx="3231992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3999">
                  <a:extLst>
                    <a:ext uri="{9D8B030D-6E8A-4147-A177-3AD203B41FA5}">
                      <a16:colId xmlns:a16="http://schemas.microsoft.com/office/drawing/2014/main" val="2991476674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2334414399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507263340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807354997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450497332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597831565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903935050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852669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642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637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58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31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65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11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80640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C4B6718-844B-AF36-87CA-A1BBBAC43FF8}"/>
              </a:ext>
            </a:extLst>
          </p:cNvPr>
          <p:cNvSpPr/>
          <p:nvPr/>
        </p:nvSpPr>
        <p:spPr>
          <a:xfrm>
            <a:off x="458265" y="3620901"/>
            <a:ext cx="1218135" cy="11034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926C240-E883-A9E7-CD89-AF88BFA11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922419"/>
              </p:ext>
            </p:extLst>
          </p:nvPr>
        </p:nvGraphicFramePr>
        <p:xfrm>
          <a:off x="4686299" y="3825793"/>
          <a:ext cx="2819400" cy="2556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302795796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419274834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402371079"/>
                    </a:ext>
                  </a:extLst>
                </a:gridCol>
              </a:tblGrid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447670"/>
                  </a:ext>
                </a:extLst>
              </a:tr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826020"/>
                  </a:ext>
                </a:extLst>
              </a:tr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0818011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1006A5-031D-CFB6-D16A-BB9DB5A5018C}"/>
              </a:ext>
            </a:extLst>
          </p:cNvPr>
          <p:cNvCxnSpPr/>
          <p:nvPr/>
        </p:nvCxnSpPr>
        <p:spPr>
          <a:xfrm>
            <a:off x="751114" y="3825793"/>
            <a:ext cx="4223657" cy="64823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ABEBFC-CC26-D483-0DF7-A6BE75D7DDE6}"/>
              </a:ext>
            </a:extLst>
          </p:cNvPr>
          <p:cNvCxnSpPr>
            <a:cxnSpLocks/>
          </p:cNvCxnSpPr>
          <p:nvPr/>
        </p:nvCxnSpPr>
        <p:spPr>
          <a:xfrm>
            <a:off x="1392307" y="4609204"/>
            <a:ext cx="5508171" cy="157459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E207BFE-31CD-EA07-EF0F-922305151032}"/>
              </a:ext>
            </a:extLst>
          </p:cNvPr>
          <p:cNvSpPr txBox="1"/>
          <p:nvPr/>
        </p:nvSpPr>
        <p:spPr>
          <a:xfrm>
            <a:off x="458265" y="1706040"/>
            <a:ext cx="11410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top left pixel is multiplied by the top left number in the matrix.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D8A06F-695E-01A2-A3FF-9C20FC1CCB54}"/>
              </a:ext>
            </a:extLst>
          </p:cNvPr>
          <p:cNvSpPr txBox="1"/>
          <p:nvPr/>
        </p:nvSpPr>
        <p:spPr>
          <a:xfrm>
            <a:off x="458265" y="2364435"/>
            <a:ext cx="11733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bottom right pixel is multiplied by the bottom right number in the matrix.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D43589-1E0A-91A3-86EB-49B8B06D688B}"/>
              </a:ext>
            </a:extLst>
          </p:cNvPr>
          <p:cNvSpPr txBox="1"/>
          <p:nvPr/>
        </p:nvSpPr>
        <p:spPr>
          <a:xfrm>
            <a:off x="7779178" y="3429000"/>
            <a:ext cx="41852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add these together to get the final pixel value: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D1E90B-405E-B927-56D7-D09970C2323E}"/>
              </a:ext>
            </a:extLst>
          </p:cNvPr>
          <p:cNvSpPr txBox="1"/>
          <p:nvPr/>
        </p:nvSpPr>
        <p:spPr>
          <a:xfrm>
            <a:off x="8518070" y="4474029"/>
            <a:ext cx="228162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3×0.06</a:t>
            </a:r>
          </a:p>
          <a:p>
            <a:pPr algn="ctr"/>
            <a:r>
              <a:rPr lang="en-US" sz="2800" dirty="0"/>
              <a:t>2×0.12</a:t>
            </a:r>
          </a:p>
          <a:p>
            <a:pPr algn="ctr"/>
            <a:r>
              <a:rPr lang="en-US" sz="2800" u="sng" dirty="0"/>
              <a:t>1×0.24</a:t>
            </a:r>
          </a:p>
          <a:p>
            <a:pPr algn="ctr"/>
            <a:r>
              <a:rPr lang="en-US" sz="2800" b="1" dirty="0"/>
              <a:t>0.66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DC96AE-2562-3403-BF57-BB5E14D14FB7}"/>
              </a:ext>
            </a:extLst>
          </p:cNvPr>
          <p:cNvSpPr/>
          <p:nvPr/>
        </p:nvSpPr>
        <p:spPr>
          <a:xfrm>
            <a:off x="7834520" y="4424410"/>
            <a:ext cx="4000678" cy="22776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u="sng" dirty="0"/>
              <a:t>Note:</a:t>
            </a:r>
          </a:p>
          <a:p>
            <a:pPr algn="ctr"/>
            <a:r>
              <a:rPr lang="en-US" sz="2800" dirty="0"/>
              <a:t>If the final value is &gt; 1, we just store 1.</a:t>
            </a:r>
          </a:p>
          <a:p>
            <a:pPr algn="ctr"/>
            <a:r>
              <a:rPr lang="en-US" sz="2800" dirty="0"/>
              <a:t>If the final value is &lt; 0, we just store 0.</a:t>
            </a:r>
          </a:p>
        </p:txBody>
      </p:sp>
    </p:spTree>
    <p:extLst>
      <p:ext uri="{BB962C8B-B14F-4D97-AF65-F5344CB8AC3E}">
        <p14:creationId xmlns:p14="http://schemas.microsoft.com/office/powerpoint/2010/main" val="86173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2" grpId="0"/>
      <p:bldP spid="13" grpId="0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394C5-3498-2EE9-A254-9FBD0BEE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E9A372-C253-5A25-AED5-96E9862A3BD7}"/>
              </a:ext>
            </a:extLst>
          </p:cNvPr>
          <p:cNvSpPr txBox="1"/>
          <p:nvPr/>
        </p:nvSpPr>
        <p:spPr>
          <a:xfrm>
            <a:off x="264300" y="270379"/>
            <a:ext cx="1160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卷积作用于图像中每个</a:t>
            </a:r>
            <a:r>
              <a:rPr lang="en-US" altLang="zh-CN" sz="2800" dirty="0"/>
              <a:t>3×3</a:t>
            </a:r>
            <a:r>
              <a:rPr lang="zh-CN" altLang="en-US" sz="2800" dirty="0"/>
              <a:t>像素方格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F4C37A-8925-1D1E-2604-E4833FBFD733}"/>
              </a:ext>
            </a:extLst>
          </p:cNvPr>
          <p:cNvSpPr txBox="1"/>
          <p:nvPr/>
        </p:nvSpPr>
        <p:spPr>
          <a:xfrm>
            <a:off x="458265" y="1043246"/>
            <a:ext cx="1160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每个像素乘以卷积矩阵中的匹配数。</a:t>
            </a:r>
            <a:endParaRPr lang="en-US" sz="28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E032D1-18EB-908F-C1CD-B12E11741D69}"/>
              </a:ext>
            </a:extLst>
          </p:cNvPr>
          <p:cNvGraphicFramePr>
            <a:graphicFrameLocks noGrp="1"/>
          </p:cNvGraphicFramePr>
          <p:nvPr/>
        </p:nvGraphicFramePr>
        <p:xfrm>
          <a:off x="458265" y="3620901"/>
          <a:ext cx="3231992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3999">
                  <a:extLst>
                    <a:ext uri="{9D8B030D-6E8A-4147-A177-3AD203B41FA5}">
                      <a16:colId xmlns:a16="http://schemas.microsoft.com/office/drawing/2014/main" val="2991476674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2334414399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507263340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807354997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450497332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597831565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903935050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852669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642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637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58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31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65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11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80640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DFC0708-EACC-3376-65E8-113F2F95CE6A}"/>
              </a:ext>
            </a:extLst>
          </p:cNvPr>
          <p:cNvSpPr/>
          <p:nvPr/>
        </p:nvSpPr>
        <p:spPr>
          <a:xfrm>
            <a:off x="458265" y="3620901"/>
            <a:ext cx="1218135" cy="11034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991E87F-16B2-1063-A8B4-1BE3658C1322}"/>
              </a:ext>
            </a:extLst>
          </p:cNvPr>
          <p:cNvGraphicFramePr>
            <a:graphicFrameLocks noGrp="1"/>
          </p:cNvGraphicFramePr>
          <p:nvPr/>
        </p:nvGraphicFramePr>
        <p:xfrm>
          <a:off x="4686299" y="3825793"/>
          <a:ext cx="2819400" cy="2556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302795796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419274834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402371079"/>
                    </a:ext>
                  </a:extLst>
                </a:gridCol>
              </a:tblGrid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447670"/>
                  </a:ext>
                </a:extLst>
              </a:tr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826020"/>
                  </a:ext>
                </a:extLst>
              </a:tr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0818011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C70E3B-AD5A-13B4-F424-629285C38811}"/>
              </a:ext>
            </a:extLst>
          </p:cNvPr>
          <p:cNvCxnSpPr/>
          <p:nvPr/>
        </p:nvCxnSpPr>
        <p:spPr>
          <a:xfrm>
            <a:off x="751114" y="3825793"/>
            <a:ext cx="4223657" cy="64823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403219-B9D9-50D1-1A96-E425666085D5}"/>
              </a:ext>
            </a:extLst>
          </p:cNvPr>
          <p:cNvCxnSpPr>
            <a:cxnSpLocks/>
          </p:cNvCxnSpPr>
          <p:nvPr/>
        </p:nvCxnSpPr>
        <p:spPr>
          <a:xfrm>
            <a:off x="1392307" y="4609204"/>
            <a:ext cx="5508171" cy="157459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AF95EEC-69C6-2BE4-1834-ECD5460C4181}"/>
              </a:ext>
            </a:extLst>
          </p:cNvPr>
          <p:cNvSpPr txBox="1"/>
          <p:nvPr/>
        </p:nvSpPr>
        <p:spPr>
          <a:xfrm>
            <a:off x="458265" y="1706040"/>
            <a:ext cx="11410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左上像素乘以矩阵中的左上角数字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720AC-7C41-14C0-E3D1-AED7E73FA3DE}"/>
              </a:ext>
            </a:extLst>
          </p:cNvPr>
          <p:cNvSpPr txBox="1"/>
          <p:nvPr/>
        </p:nvSpPr>
        <p:spPr>
          <a:xfrm>
            <a:off x="458265" y="2364435"/>
            <a:ext cx="11733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右下角像素乘以矩阵中的右下角数字。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5FE45A-C575-FA54-5962-D4F3D5C5684E}"/>
              </a:ext>
            </a:extLst>
          </p:cNvPr>
          <p:cNvSpPr txBox="1"/>
          <p:nvPr/>
        </p:nvSpPr>
        <p:spPr>
          <a:xfrm>
            <a:off x="7779178" y="3429000"/>
            <a:ext cx="41852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我们将这些元素相加得到最终的像素值：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22B295-828C-ED53-6C18-EB89168FACDB}"/>
              </a:ext>
            </a:extLst>
          </p:cNvPr>
          <p:cNvSpPr txBox="1"/>
          <p:nvPr/>
        </p:nvSpPr>
        <p:spPr>
          <a:xfrm>
            <a:off x="8313492" y="4609204"/>
            <a:ext cx="228162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3×0.06</a:t>
            </a:r>
          </a:p>
          <a:p>
            <a:pPr algn="ctr"/>
            <a:r>
              <a:rPr lang="en-US" sz="2800" dirty="0"/>
              <a:t>2×0.12</a:t>
            </a:r>
          </a:p>
          <a:p>
            <a:pPr algn="ctr"/>
            <a:r>
              <a:rPr lang="en-US" sz="2800" u="sng" dirty="0"/>
              <a:t>1×0.24</a:t>
            </a:r>
          </a:p>
          <a:p>
            <a:pPr algn="ctr"/>
            <a:r>
              <a:rPr lang="en-US" sz="2800" b="1" dirty="0"/>
              <a:t>0.66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E9DBB2-9477-B867-878C-5D5AE695616E}"/>
              </a:ext>
            </a:extLst>
          </p:cNvPr>
          <p:cNvSpPr/>
          <p:nvPr/>
        </p:nvSpPr>
        <p:spPr>
          <a:xfrm>
            <a:off x="7834520" y="4424410"/>
            <a:ext cx="4000678" cy="22776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注： </a:t>
            </a:r>
            <a:endParaRPr lang="en-US" altLang="zh-CN" sz="2800" dirty="0"/>
          </a:p>
          <a:p>
            <a:pPr algn="ctr"/>
            <a:r>
              <a:rPr lang="zh-CN" altLang="en-US" sz="2800" dirty="0"/>
              <a:t>如果最终值</a:t>
            </a:r>
            <a:r>
              <a:rPr lang="en-US" altLang="zh-CN" sz="2800" dirty="0"/>
              <a:t>&gt;1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pPr algn="ctr"/>
            <a:r>
              <a:rPr lang="zh-CN" altLang="en-US" sz="2800" dirty="0"/>
              <a:t>我们只需存储</a:t>
            </a:r>
            <a:r>
              <a:rPr lang="en-US" altLang="zh-CN" sz="2800" dirty="0"/>
              <a:t>1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algn="ctr"/>
            <a:r>
              <a:rPr lang="zh-CN" altLang="en-US" sz="2800" dirty="0"/>
              <a:t>如果最终值</a:t>
            </a:r>
            <a:r>
              <a:rPr lang="en-US" altLang="zh-CN" sz="2800" dirty="0"/>
              <a:t>&lt;0</a:t>
            </a:r>
          </a:p>
          <a:p>
            <a:pPr algn="ctr"/>
            <a:r>
              <a:rPr lang="zh-CN" altLang="en-US" sz="2800" dirty="0"/>
              <a:t>我们只需存储</a:t>
            </a:r>
            <a:r>
              <a:rPr lang="en-US" altLang="zh-CN" sz="2800" dirty="0"/>
              <a:t>0</a:t>
            </a:r>
            <a:r>
              <a:rPr lang="zh-CN" altLang="en-US" sz="2800" dirty="0"/>
              <a:t>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7769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2" grpId="0"/>
      <p:bldP spid="13" grpId="0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01AAFD-A63C-5F48-B3EF-FFB46F666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705836"/>
              </p:ext>
            </p:extLst>
          </p:nvPr>
        </p:nvGraphicFramePr>
        <p:xfrm>
          <a:off x="8049985" y="364136"/>
          <a:ext cx="2819400" cy="2556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302795796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419274834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402371079"/>
                    </a:ext>
                  </a:extLst>
                </a:gridCol>
              </a:tblGrid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447670"/>
                  </a:ext>
                </a:extLst>
              </a:tr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826020"/>
                  </a:ext>
                </a:extLst>
              </a:tr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081801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D241BA7-D4F7-02A8-C0F4-EE9625F4F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44" y="688496"/>
            <a:ext cx="1506142" cy="15252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B512DF-63AA-E1A7-FA7C-072D86E21DF1}"/>
              </a:ext>
            </a:extLst>
          </p:cNvPr>
          <p:cNvSpPr txBox="1"/>
          <p:nvPr/>
        </p:nvSpPr>
        <p:spPr>
          <a:xfrm>
            <a:off x="2334986" y="974045"/>
            <a:ext cx="51652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Can you guess the effect of this convolution matrix?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5B8681-A9B5-D197-EBEA-A1F782E2B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612913"/>
              </p:ext>
            </p:extLst>
          </p:nvPr>
        </p:nvGraphicFramePr>
        <p:xfrm>
          <a:off x="1698172" y="3327018"/>
          <a:ext cx="2819400" cy="2556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9800">
                  <a:extLst>
                    <a:ext uri="{9D8B030D-6E8A-4147-A177-3AD203B41FA5}">
                      <a16:colId xmlns:a16="http://schemas.microsoft.com/office/drawing/2014/main" val="302795796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419274834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402371079"/>
                    </a:ext>
                  </a:extLst>
                </a:gridCol>
              </a:tblGrid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447670"/>
                  </a:ext>
                </a:extLst>
              </a:tr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-4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826020"/>
                  </a:ext>
                </a:extLst>
              </a:tr>
              <a:tr h="85231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081801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A482079-D7DA-9897-207C-B0A0DFB68DDE}"/>
              </a:ext>
            </a:extLst>
          </p:cNvPr>
          <p:cNvSpPr txBox="1"/>
          <p:nvPr/>
        </p:nvSpPr>
        <p:spPr>
          <a:xfrm>
            <a:off x="4917621" y="3697545"/>
            <a:ext cx="60470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What about this one?</a:t>
            </a:r>
          </a:p>
          <a:p>
            <a:endParaRPr lang="en-US" sz="2800" dirty="0"/>
          </a:p>
          <a:p>
            <a:r>
              <a:rPr lang="en-US" sz="2800" dirty="0"/>
              <a:t>Take a guess, then enter the values onto the web page to check.</a:t>
            </a:r>
          </a:p>
        </p:txBody>
      </p:sp>
    </p:spTree>
    <p:extLst>
      <p:ext uri="{BB962C8B-B14F-4D97-AF65-F5344CB8AC3E}">
        <p14:creationId xmlns:p14="http://schemas.microsoft.com/office/powerpoint/2010/main" val="1408104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C68120-97B8-8A24-27AD-89940475284E}"/>
              </a:ext>
            </a:extLst>
          </p:cNvPr>
          <p:cNvSpPr txBox="1"/>
          <p:nvPr/>
        </p:nvSpPr>
        <p:spPr>
          <a:xfrm>
            <a:off x="264300" y="270379"/>
            <a:ext cx="116041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Because convolutions need a 3×3 box of pixels to work,</a:t>
            </a:r>
          </a:p>
          <a:p>
            <a:pPr algn="ctr"/>
            <a:r>
              <a:rPr lang="en-US" sz="2800" dirty="0"/>
              <a:t>one question is what to do at the edges.</a:t>
            </a:r>
            <a:endParaRPr lang="en-US" sz="28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A0B250-89A3-A48B-1DB3-76FE983B3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690118"/>
              </p:ext>
            </p:extLst>
          </p:nvPr>
        </p:nvGraphicFramePr>
        <p:xfrm>
          <a:off x="4714578" y="1770330"/>
          <a:ext cx="3231992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3999">
                  <a:extLst>
                    <a:ext uri="{9D8B030D-6E8A-4147-A177-3AD203B41FA5}">
                      <a16:colId xmlns:a16="http://schemas.microsoft.com/office/drawing/2014/main" val="2991476674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2334414399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507263340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807354997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450497332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597831565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903935050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852669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642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637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58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31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65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11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80640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BB9C25A-4DD1-2658-C4F1-AD06E4C9D8E5}"/>
              </a:ext>
            </a:extLst>
          </p:cNvPr>
          <p:cNvSpPr/>
          <p:nvPr/>
        </p:nvSpPr>
        <p:spPr>
          <a:xfrm>
            <a:off x="4311808" y="1389330"/>
            <a:ext cx="1218135" cy="11034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C13AC7-1E09-688A-84A9-525005CB29B2}"/>
              </a:ext>
            </a:extLst>
          </p:cNvPr>
          <p:cNvCxnSpPr/>
          <p:nvPr/>
        </p:nvCxnSpPr>
        <p:spPr>
          <a:xfrm flipV="1">
            <a:off x="2046514" y="1926771"/>
            <a:ext cx="2068286" cy="32657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092651A-60E6-4ED9-0B5E-BFE28B6A225E}"/>
              </a:ext>
            </a:extLst>
          </p:cNvPr>
          <p:cNvSpPr txBox="1"/>
          <p:nvPr/>
        </p:nvSpPr>
        <p:spPr>
          <a:xfrm>
            <a:off x="90128" y="1776289"/>
            <a:ext cx="20682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No pixels to use here!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376B59-BEA0-F93D-4ADA-47F3E08E2F89}"/>
              </a:ext>
            </a:extLst>
          </p:cNvPr>
          <p:cNvSpPr txBox="1"/>
          <p:nvPr/>
        </p:nvSpPr>
        <p:spPr>
          <a:xfrm>
            <a:off x="427586" y="5118050"/>
            <a:ext cx="116041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 common solution is just to ignore the edges.</a:t>
            </a:r>
          </a:p>
          <a:p>
            <a:pPr algn="ctr"/>
            <a:r>
              <a:rPr lang="en-US" sz="2800" dirty="0"/>
              <a:t>This means that after the convolution, the image is a bit </a:t>
            </a:r>
            <a:r>
              <a:rPr lang="en-US" sz="2800" b="1" dirty="0"/>
              <a:t>smaller</a:t>
            </a:r>
            <a:r>
              <a:rPr lang="en-US" sz="2800" dirty="0"/>
              <a:t>.</a:t>
            </a:r>
          </a:p>
          <a:p>
            <a:pPr algn="ctr"/>
            <a:r>
              <a:rPr lang="en-US" sz="2800" dirty="0"/>
              <a:t>For example, a 100×100 image would become 98×98 pixels.</a:t>
            </a:r>
          </a:p>
        </p:txBody>
      </p:sp>
    </p:spTree>
    <p:extLst>
      <p:ext uri="{BB962C8B-B14F-4D97-AF65-F5344CB8AC3E}">
        <p14:creationId xmlns:p14="http://schemas.microsoft.com/office/powerpoint/2010/main" val="72000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CD6B8-9C6B-97C1-662D-4E344E683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03FA1C-9679-FFA2-CDFB-74EB6AEBA544}"/>
              </a:ext>
            </a:extLst>
          </p:cNvPr>
          <p:cNvSpPr txBox="1"/>
          <p:nvPr/>
        </p:nvSpPr>
        <p:spPr>
          <a:xfrm>
            <a:off x="264300" y="270379"/>
            <a:ext cx="116041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因为卷积需要一个</a:t>
            </a:r>
            <a:r>
              <a:rPr lang="en-US" altLang="zh-CN" sz="2800" dirty="0"/>
              <a:t>3×3</a:t>
            </a:r>
            <a:r>
              <a:rPr lang="zh-CN" altLang="en-US" sz="2800" dirty="0"/>
              <a:t>像素的盒子才能工作， </a:t>
            </a:r>
            <a:endParaRPr lang="en-US" altLang="zh-CN" sz="2800" dirty="0"/>
          </a:p>
          <a:p>
            <a:pPr algn="ctr"/>
            <a:r>
              <a:rPr lang="zh-CN" altLang="en-US" sz="2800" dirty="0"/>
              <a:t>一个问题是边缘该怎么办。</a:t>
            </a:r>
            <a:endParaRPr lang="en-US" sz="28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ED4F0C-E008-DE17-DD74-72DDAE86703D}"/>
              </a:ext>
            </a:extLst>
          </p:cNvPr>
          <p:cNvGraphicFramePr>
            <a:graphicFrameLocks noGrp="1"/>
          </p:cNvGraphicFramePr>
          <p:nvPr/>
        </p:nvGraphicFramePr>
        <p:xfrm>
          <a:off x="4714578" y="1770330"/>
          <a:ext cx="3231992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3999">
                  <a:extLst>
                    <a:ext uri="{9D8B030D-6E8A-4147-A177-3AD203B41FA5}">
                      <a16:colId xmlns:a16="http://schemas.microsoft.com/office/drawing/2014/main" val="2991476674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2334414399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507263340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807354997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450497332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1597831565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903935050"/>
                    </a:ext>
                  </a:extLst>
                </a:gridCol>
                <a:gridCol w="403999">
                  <a:extLst>
                    <a:ext uri="{9D8B030D-6E8A-4147-A177-3AD203B41FA5}">
                      <a16:colId xmlns:a16="http://schemas.microsoft.com/office/drawing/2014/main" val="852669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642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83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637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58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31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655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11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80640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F0EE1DC-B342-1972-EBD6-73B1E230DDC3}"/>
              </a:ext>
            </a:extLst>
          </p:cNvPr>
          <p:cNvSpPr/>
          <p:nvPr/>
        </p:nvSpPr>
        <p:spPr>
          <a:xfrm>
            <a:off x="4311808" y="1389330"/>
            <a:ext cx="1218135" cy="11034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DF01C2-60B9-E0C6-B62A-CE011FF4F02A}"/>
              </a:ext>
            </a:extLst>
          </p:cNvPr>
          <p:cNvCxnSpPr/>
          <p:nvPr/>
        </p:nvCxnSpPr>
        <p:spPr>
          <a:xfrm flipV="1">
            <a:off x="2046514" y="1926771"/>
            <a:ext cx="2068286" cy="32657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A306041-3C8F-60A4-131C-CB967D6DE708}"/>
              </a:ext>
            </a:extLst>
          </p:cNvPr>
          <p:cNvSpPr txBox="1"/>
          <p:nvPr/>
        </p:nvSpPr>
        <p:spPr>
          <a:xfrm>
            <a:off x="90128" y="1776289"/>
            <a:ext cx="20682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这里没有像素可用！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D6E5AA-7078-0471-2866-3E6266082250}"/>
              </a:ext>
            </a:extLst>
          </p:cNvPr>
          <p:cNvSpPr txBox="1"/>
          <p:nvPr/>
        </p:nvSpPr>
        <p:spPr>
          <a:xfrm>
            <a:off x="427586" y="5118050"/>
            <a:ext cx="116041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/>
              <a:t>一个常见的解决办法就是忽略边缘。 </a:t>
            </a:r>
            <a:endParaRPr lang="en-US" altLang="zh-CN" sz="2800" dirty="0"/>
          </a:p>
          <a:p>
            <a:pPr algn="ctr"/>
            <a:r>
              <a:rPr lang="zh-CN" altLang="en-US" sz="2800" dirty="0"/>
              <a:t>这意味着卷积后，图像会稍微变小。 </a:t>
            </a:r>
            <a:endParaRPr lang="en-US" altLang="zh-CN" sz="2800" dirty="0"/>
          </a:p>
          <a:p>
            <a:pPr algn="ctr"/>
            <a:r>
              <a:rPr lang="zh-CN" altLang="en-US" sz="2800" dirty="0"/>
              <a:t>例如，一张</a:t>
            </a:r>
            <a:r>
              <a:rPr lang="en-US" altLang="zh-CN" sz="2800" dirty="0"/>
              <a:t>100×100</a:t>
            </a:r>
            <a:r>
              <a:rPr lang="zh-CN" altLang="en-US" sz="2800" dirty="0"/>
              <a:t>像素的图像会变成</a:t>
            </a:r>
            <a:r>
              <a:rPr lang="en-US" altLang="zh-CN" sz="2800" dirty="0"/>
              <a:t>98×98</a:t>
            </a:r>
            <a:r>
              <a:rPr lang="zh-CN" altLang="en-US" sz="2800" dirty="0"/>
              <a:t>像素。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6387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2C8049-3CD5-301F-6845-45A6A3A0C452}"/>
              </a:ext>
            </a:extLst>
          </p:cNvPr>
          <p:cNvSpPr txBox="1"/>
          <p:nvPr/>
        </p:nvSpPr>
        <p:spPr>
          <a:xfrm>
            <a:off x="272143" y="261257"/>
            <a:ext cx="11560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Questions for you to investigate: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9C674-0F3F-0824-D9E5-A56648B343D5}"/>
              </a:ext>
            </a:extLst>
          </p:cNvPr>
          <p:cNvSpPr txBox="1"/>
          <p:nvPr/>
        </p:nvSpPr>
        <p:spPr>
          <a:xfrm>
            <a:off x="272143" y="1099457"/>
            <a:ext cx="115606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Do the numbers in the convolution matrix always have to add up to 1?</a:t>
            </a:r>
            <a:br>
              <a:rPr lang="en-US" sz="2800" dirty="0"/>
            </a:br>
            <a:r>
              <a:rPr lang="zh-CN" altLang="en-US" sz="2800" dirty="0"/>
              <a:t>卷积矩阵中的数字总是必须加起来为</a:t>
            </a:r>
            <a:r>
              <a:rPr lang="en-US" altLang="zh-CN" sz="2800" dirty="0"/>
              <a:t>1</a:t>
            </a:r>
            <a:r>
              <a:rPr lang="zh-CN" altLang="en-US" sz="2800" dirty="0"/>
              <a:t>吗？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In what situations can we take an image which has been filtered and work backwards to get the original?</a:t>
            </a:r>
            <a:br>
              <a:rPr lang="en-US" sz="2800" dirty="0"/>
            </a:br>
            <a:r>
              <a:rPr lang="zh-CN" altLang="en-US" sz="2800" dirty="0"/>
              <a:t>在什么情况下，我们可以将经过滤镜处理的图像倒推得到原始图像？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Why could convolutions be useful for </a:t>
            </a:r>
            <a:r>
              <a:rPr lang="en-US" sz="2800" b="1" dirty="0"/>
              <a:t>compressing </a:t>
            </a:r>
            <a:r>
              <a:rPr lang="en-US" sz="2800" dirty="0"/>
              <a:t>data?</a:t>
            </a:r>
            <a:br>
              <a:rPr lang="en-US" sz="2800" dirty="0"/>
            </a:br>
            <a:r>
              <a:rPr lang="zh-CN" altLang="en-US" sz="2800" dirty="0"/>
              <a:t>为什么卷积对数据压缩有用？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Why could convolutions be useful for </a:t>
            </a:r>
            <a:r>
              <a:rPr lang="en-US" sz="2800" b="1" dirty="0"/>
              <a:t>AI image recognition</a:t>
            </a:r>
            <a:r>
              <a:rPr lang="en-US" sz="2800" dirty="0"/>
              <a:t>?</a:t>
            </a:r>
            <a:br>
              <a:rPr lang="en-US" sz="2800" dirty="0"/>
            </a:br>
            <a:r>
              <a:rPr lang="zh-CN" altLang="en-US" sz="2800" dirty="0"/>
              <a:t>为什么卷积对人工智能图像识别有用？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94528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1201</Words>
  <Application>Microsoft Office PowerPoint</Application>
  <PresentationFormat>Widescreen</PresentationFormat>
  <Paragraphs>534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 Cressey (DHHQ)</dc:creator>
  <cp:lastModifiedBy>Lewis Cressey (DHHQ)</cp:lastModifiedBy>
  <cp:revision>9</cp:revision>
  <dcterms:created xsi:type="dcterms:W3CDTF">2026-05-31T23:52:26Z</dcterms:created>
  <dcterms:modified xsi:type="dcterms:W3CDTF">2026-06-02T05:37:48Z</dcterms:modified>
</cp:coreProperties>
</file>