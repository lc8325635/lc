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5" r:id="rId4"/>
    <p:sldId id="266" r:id="rId5"/>
    <p:sldId id="271" r:id="rId6"/>
    <p:sldId id="267" r:id="rId7"/>
    <p:sldId id="272" r:id="rId8"/>
    <p:sldId id="268" r:id="rId9"/>
    <p:sldId id="273" r:id="rId10"/>
    <p:sldId id="269" r:id="rId11"/>
    <p:sldId id="274" r:id="rId12"/>
    <p:sldId id="270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190A-41C4-6C21-9CD4-530CD4B10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85743-529B-1553-775B-85A229C1C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FD78-B1A4-9A24-CB0D-97FEE233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FF97-5253-79EA-363A-BCBE2C03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C41-BB96-8B5D-3DD1-41EE6BA8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0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1064-FB0F-0686-F23F-1A64E76A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7118-4FFE-824C-37DE-95BBF740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FD33-7F5D-46FC-DA55-D64B298C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91917-A8DE-0178-B999-C958ECED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8C47-795C-5EC9-62A8-3BE78E0E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7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89EF-B58E-601A-67A3-43CED8E6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7159-FCB3-3210-02F2-414330284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76420-B25C-233F-C1CA-F98F6CAD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6734B-B6E9-34E7-55DC-7C135990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748A3-B8A8-5066-16CB-90D23D5C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8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4AAD-AF72-A3BE-9869-2486F170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9B29-D263-8221-D0D3-C80F51447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E6101-5352-0201-399E-9B3C6724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76883-ACE3-3097-5BEE-EA8F13F0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9E57F-AF12-D802-18B8-FC7DD84D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866A4-E8DC-1455-4C5A-DCA90344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1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6E34-7968-C9BD-B32F-4DBA4F2A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46D5F-B4F9-699A-F439-7E5BA6704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26941-1086-DCF9-3834-26D1C748F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D06D-1C34-0E4D-6DCE-9C5A77AA3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8F7D3-120C-28B6-85B5-E115EB844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CF084-D8F3-4B18-2B08-D06F4F9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BD752-181F-7430-F7A3-4D6D0505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3EEA10-7F1D-0F14-FFB1-9D6C7D6D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71AB-E4F8-353C-4591-FDA4945D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54A97-A744-55D2-0A81-FF71F8B0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2078F-BEBC-59F7-17EB-D4E33D8D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7B3DA-ED64-227D-84CE-2E040958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6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D3800-7E3B-662E-A311-BA1462F4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668CD-C518-A9FB-3075-CFEA437F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A2566-5507-0C80-9DC1-EA1D85F9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8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0B0E-8CE5-62FC-F9D9-2D582308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E1A7A-ABBC-4885-8009-5A2F46108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AA012-D543-CCA1-B1FB-16F01B8F0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2FFE0-186D-EFAC-F563-9787EB10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8451C-A984-2938-2B5E-8390080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966E1-7D34-04F0-2409-DE37F241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2C87-F0BF-464E-494C-66264CDC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34AAA-4EC3-EA80-A309-949349747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F8F9E-2EFD-FBA2-DC8B-DED6791CA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4E3B2-99DA-7A0C-022B-1390BC6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4D8BF-6E87-EEE9-4C17-8247F9F7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9AD03-F164-6E20-0B2E-DFC7D370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7F0-BDC3-963B-5006-DF44F230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AD3A6-6D25-5FC6-AFD7-24032FEDF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62357-8084-41E1-DE39-E5FF79DE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27B1-74A9-9E80-9756-A29F7012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F770F-7AB3-4BE3-7B2E-5851BA53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8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07129-4723-CDAA-FA8B-4118DE167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200C7-F5B9-CDC7-A529-1053E575B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1FD80-5324-0005-F1E1-3D9E0F867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B203-F670-5252-070A-E8DE9A2E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759A3-DFFB-94EA-1E06-99CAA00B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101BC-9E30-D4D0-9AF0-F2F87B8A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8D1B2-EF98-FC8E-26CE-3EC3CE95A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77CA-AA76-0D82-E6CA-38DA928FB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D3159-56F9-B8B3-E45A-A3594667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7552-CA6A-7E19-C2FC-B7D535784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3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7F56F-E26E-0344-DADE-7C058CB2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81" y="407874"/>
            <a:ext cx="6060048" cy="60422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389977-734F-F0A2-A571-D85C8F1E97B9}"/>
                  </a:ext>
                </a:extLst>
              </p:cNvPr>
              <p:cNvSpPr txBox="1"/>
              <p:nvPr/>
            </p:nvSpPr>
            <p:spPr>
              <a:xfrm>
                <a:off x="6980021" y="797509"/>
                <a:ext cx="4876799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 image shows a circle with </a:t>
                </a:r>
                <a:r>
                  <a:rPr lang="en-US" sz="2800" dirty="0" err="1"/>
                  <a:t>centre</a:t>
                </a:r>
                <a:r>
                  <a:rPr lang="en-US" sz="2800" dirty="0"/>
                  <a:t> at point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(0, 0)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The point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(4, 3)</m:t>
                    </m:r>
                  </m:oMath>
                </a14:m>
                <a:r>
                  <a:rPr lang="en-US" sz="2800" dirty="0"/>
                  <a:t> is on the </a:t>
                </a:r>
                <a:r>
                  <a:rPr lang="en-US" sz="2800" b="1" dirty="0"/>
                  <a:t>circumference</a:t>
                </a:r>
                <a:r>
                  <a:rPr lang="en-US" sz="2800" dirty="0"/>
                  <a:t> of the circle.</a:t>
                </a:r>
              </a:p>
              <a:p>
                <a:endParaRPr lang="en-US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What is the </a:t>
                </a:r>
                <a:r>
                  <a:rPr lang="en-US" sz="2800" b="1" dirty="0"/>
                  <a:t>radius </a:t>
                </a:r>
                <a:r>
                  <a:rPr lang="en-US" sz="2800" dirty="0"/>
                  <a:t>of this circle?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What is the </a:t>
                </a:r>
                <a:r>
                  <a:rPr lang="en-US" sz="2800" b="1" dirty="0"/>
                  <a:t>diameter</a:t>
                </a:r>
                <a:r>
                  <a:rPr lang="en-US" sz="2800" dirty="0"/>
                  <a:t>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What is the </a:t>
                </a:r>
                <a:r>
                  <a:rPr lang="en-US" sz="2800" b="1" dirty="0"/>
                  <a:t>area</a:t>
                </a:r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389977-734F-F0A2-A571-D85C8F1E9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021" y="797509"/>
                <a:ext cx="4876799" cy="5262979"/>
              </a:xfrm>
              <a:prstGeom prst="rect">
                <a:avLst/>
              </a:prstGeom>
              <a:blipFill>
                <a:blip r:embed="rId3"/>
                <a:stretch>
                  <a:fillRect l="-2500" t="-1275" r="-750" b="-2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81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6E0DB-9D7B-8AD8-DBA3-1DD402BE3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75DF0-3203-7780-E8C1-3432CBFE3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81" y="407874"/>
            <a:ext cx="6060048" cy="60422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491819-1356-01EB-0120-89CE72504D89}"/>
              </a:ext>
            </a:extLst>
          </p:cNvPr>
          <p:cNvSpPr txBox="1"/>
          <p:nvPr/>
        </p:nvSpPr>
        <p:spPr>
          <a:xfrm>
            <a:off x="6980021" y="797509"/>
            <a:ext cx="487679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图像显示一个圆，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中心为点（</a:t>
            </a:r>
            <a:r>
              <a:rPr lang="en-US" altLang="zh-CN" sz="2800" dirty="0"/>
              <a:t>0</a:t>
            </a:r>
            <a:r>
              <a:rPr lang="zh-CN" altLang="en-US" sz="2800" dirty="0"/>
              <a:t>， </a:t>
            </a:r>
            <a:r>
              <a:rPr lang="en-US" altLang="zh-CN" sz="2800" dirty="0"/>
              <a:t>0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r>
              <a:rPr lang="zh-CN" altLang="en-US" sz="2800" dirty="0"/>
              <a:t>
点（</a:t>
            </a:r>
            <a:r>
              <a:rPr lang="en-US" altLang="zh-CN" sz="2800" dirty="0"/>
              <a:t>4</a:t>
            </a:r>
            <a:r>
              <a:rPr lang="zh-CN" altLang="en-US" sz="2800" dirty="0"/>
              <a:t>， </a:t>
            </a:r>
            <a:r>
              <a:rPr lang="en-US" altLang="zh-CN" sz="2800" dirty="0"/>
              <a:t>3</a:t>
            </a:r>
            <a:r>
              <a:rPr lang="zh-CN" altLang="en-US" sz="2800" dirty="0"/>
              <a:t>）位于圆周上。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这个圆的半径是多少？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直径是多少？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那是哪个地区？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986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4A0989-859F-7768-FDCD-C15C49DCC3F6}"/>
              </a:ext>
            </a:extLst>
          </p:cNvPr>
          <p:cNvSpPr txBox="1"/>
          <p:nvPr/>
        </p:nvSpPr>
        <p:spPr>
          <a:xfrm>
            <a:off x="462337" y="2984127"/>
            <a:ext cx="11219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u="sng" dirty="0" err="1"/>
              <a:t>Rasterising</a:t>
            </a:r>
            <a:r>
              <a:rPr lang="en-US" sz="4000" u="sng" dirty="0"/>
              <a:t> Circles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23725-174E-9759-6B5D-2FD7C73275D5}"/>
              </a:ext>
            </a:extLst>
          </p:cNvPr>
          <p:cNvSpPr txBox="1"/>
          <p:nvPr/>
        </p:nvSpPr>
        <p:spPr>
          <a:xfrm>
            <a:off x="7510409" y="174661"/>
            <a:ext cx="4294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6C2981-7EAB-4B3A-B427-1CF598C22540}" type="datetime3">
              <a:rPr lang="en-US" sz="2400" smtClean="0"/>
              <a:pPr algn="r"/>
              <a:t>2 June 2026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419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D6B177-AF05-C1A9-B098-28E402BC4DB5}"/>
              </a:ext>
            </a:extLst>
          </p:cNvPr>
          <p:cNvSpPr txBox="1"/>
          <p:nvPr/>
        </p:nvSpPr>
        <p:spPr>
          <a:xfrm>
            <a:off x="364291" y="181426"/>
            <a:ext cx="114634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Every point on the circumference of a circle is exactly one radius length away from the </a:t>
            </a:r>
            <a:r>
              <a:rPr lang="en-US" sz="2800" dirty="0" err="1"/>
              <a:t>centre</a:t>
            </a:r>
            <a:r>
              <a:rPr lang="en-US" sz="2800" dirty="0"/>
              <a:t> of the circle.</a:t>
            </a:r>
          </a:p>
          <a:p>
            <a:endParaRPr lang="en-US" sz="2800" dirty="0"/>
          </a:p>
          <a:p>
            <a:r>
              <a:rPr lang="en-US" sz="2800" dirty="0"/>
              <a:t>We can measure the distance from the </a:t>
            </a:r>
            <a:r>
              <a:rPr lang="en-US" sz="2800" dirty="0" err="1"/>
              <a:t>centre</a:t>
            </a:r>
            <a:r>
              <a:rPr lang="en-US" sz="2800" dirty="0"/>
              <a:t> using Pythagoras.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D11E35-2728-FAA8-C8BC-9CEA0BFC6D2C}"/>
                  </a:ext>
                </a:extLst>
              </p:cNvPr>
              <p:cNvSpPr txBox="1"/>
              <p:nvPr/>
            </p:nvSpPr>
            <p:spPr>
              <a:xfrm>
                <a:off x="5083627" y="3276925"/>
                <a:ext cx="6744078" cy="61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D11E35-2728-FAA8-C8BC-9CEA0BFC6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627" y="3276925"/>
                <a:ext cx="6744078" cy="6141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10D55B9-24C3-08B4-F1AE-FF1D4D179467}"/>
              </a:ext>
            </a:extLst>
          </p:cNvPr>
          <p:cNvSpPr txBox="1"/>
          <p:nvPr/>
        </p:nvSpPr>
        <p:spPr>
          <a:xfrm>
            <a:off x="5497031" y="2584686"/>
            <a:ext cx="498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Mathematical notation: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C946F-69F1-2F68-33B7-6B07A7E6634A}"/>
              </a:ext>
            </a:extLst>
          </p:cNvPr>
          <p:cNvSpPr txBox="1"/>
          <p:nvPr/>
        </p:nvSpPr>
        <p:spPr>
          <a:xfrm>
            <a:off x="5497032" y="4247536"/>
            <a:ext cx="498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Python code: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750227-2BC3-7AFE-FD06-128DD7A279C5}"/>
              </a:ext>
            </a:extLst>
          </p:cNvPr>
          <p:cNvSpPr txBox="1"/>
          <p:nvPr/>
        </p:nvSpPr>
        <p:spPr>
          <a:xfrm>
            <a:off x="7246090" y="5001666"/>
            <a:ext cx="5044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 = sqrt(x ** 2 + y ** 2)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C72BCF-C3C2-D7CD-4556-EEC8BFAE74ED}"/>
              </a:ext>
            </a:extLst>
          </p:cNvPr>
          <p:cNvCxnSpPr>
            <a:cxnSpLocks/>
          </p:cNvCxnSpPr>
          <p:nvPr/>
        </p:nvCxnSpPr>
        <p:spPr>
          <a:xfrm flipV="1">
            <a:off x="9601200" y="5463331"/>
            <a:ext cx="0" cy="6103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3B577B-5FBD-B5E1-D2F4-00D681F260A6}"/>
                  </a:ext>
                </a:extLst>
              </p:cNvPr>
              <p:cNvSpPr txBox="1"/>
              <p:nvPr/>
            </p:nvSpPr>
            <p:spPr>
              <a:xfrm>
                <a:off x="7357731" y="6073715"/>
                <a:ext cx="50441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Notice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is written </a:t>
                </a:r>
                <a:r>
                  <a:rPr lang="en-US" sz="28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 **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3B577B-5FBD-B5E1-D2F4-00D681F26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731" y="6073715"/>
                <a:ext cx="5044134" cy="523220"/>
              </a:xfrm>
              <a:prstGeom prst="rect">
                <a:avLst/>
              </a:prstGeom>
              <a:blipFill>
                <a:blip r:embed="rId3"/>
                <a:stretch>
                  <a:fillRect l="-2539" t="-1279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121A47AD-4EBE-F294-4DAB-42C97D21C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65" y="2080719"/>
            <a:ext cx="4716717" cy="450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4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43C5-1E92-2F89-0BD7-3AE453D0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4192E-6BBC-49E0-A9E3-AC1F1D36DF37}"/>
              </a:ext>
            </a:extLst>
          </p:cNvPr>
          <p:cNvSpPr txBox="1"/>
          <p:nvPr/>
        </p:nvSpPr>
        <p:spPr>
          <a:xfrm>
            <a:off x="364291" y="181426"/>
            <a:ext cx="114634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圆周上的每个点距离圆心恰好一个半径长度。 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我们可以用毕达哥拉斯来测量距离中心的距离。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F6C532-2209-DFC3-7E88-3F2C327E8C75}"/>
                  </a:ext>
                </a:extLst>
              </p:cNvPr>
              <p:cNvSpPr txBox="1"/>
              <p:nvPr/>
            </p:nvSpPr>
            <p:spPr>
              <a:xfrm>
                <a:off x="5083627" y="3276925"/>
                <a:ext cx="6744078" cy="61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F6C532-2209-DFC3-7E88-3F2C327E8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627" y="3276925"/>
                <a:ext cx="6744078" cy="6141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61C5A1C-8138-7976-DB52-FA68F56367DF}"/>
              </a:ext>
            </a:extLst>
          </p:cNvPr>
          <p:cNvSpPr txBox="1"/>
          <p:nvPr/>
        </p:nvSpPr>
        <p:spPr>
          <a:xfrm>
            <a:off x="5497031" y="2584686"/>
            <a:ext cx="498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数学记号法</a:t>
            </a:r>
            <a:r>
              <a:rPr lang="en-US" altLang="zh-CN" sz="2800" dirty="0"/>
              <a:t>: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3570B5-BDB7-E07C-5F9C-9868E3EE3ECB}"/>
              </a:ext>
            </a:extLst>
          </p:cNvPr>
          <p:cNvSpPr txBox="1"/>
          <p:nvPr/>
        </p:nvSpPr>
        <p:spPr>
          <a:xfrm>
            <a:off x="5497032" y="4247536"/>
            <a:ext cx="498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Python </a:t>
            </a:r>
            <a:r>
              <a:rPr lang="zh-CN" altLang="en-US" sz="2800" dirty="0"/>
              <a:t>代码：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20EAE-FC04-C576-45B8-968D78AC4689}"/>
              </a:ext>
            </a:extLst>
          </p:cNvPr>
          <p:cNvSpPr txBox="1"/>
          <p:nvPr/>
        </p:nvSpPr>
        <p:spPr>
          <a:xfrm>
            <a:off x="7246090" y="5001666"/>
            <a:ext cx="5044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 = sqrt(x ** 2 + y ** 2)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FDB391-1AA7-DE2F-9C2C-72A1A10ED150}"/>
              </a:ext>
            </a:extLst>
          </p:cNvPr>
          <p:cNvCxnSpPr>
            <a:cxnSpLocks/>
          </p:cNvCxnSpPr>
          <p:nvPr/>
        </p:nvCxnSpPr>
        <p:spPr>
          <a:xfrm flipV="1">
            <a:off x="9601200" y="5463331"/>
            <a:ext cx="0" cy="6103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CEAADE-E174-B1BF-09EA-FD733A143C68}"/>
                  </a:ext>
                </a:extLst>
              </p:cNvPr>
              <p:cNvSpPr txBox="1"/>
              <p:nvPr/>
            </p:nvSpPr>
            <p:spPr>
              <a:xfrm>
                <a:off x="7357731" y="6073715"/>
                <a:ext cx="50441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Notice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is written </a:t>
                </a:r>
                <a:r>
                  <a:rPr lang="en-US" sz="28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 **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CEAADE-E174-B1BF-09EA-FD733A143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731" y="6073715"/>
                <a:ext cx="5044134" cy="523220"/>
              </a:xfrm>
              <a:prstGeom prst="rect">
                <a:avLst/>
              </a:prstGeom>
              <a:blipFill>
                <a:blip r:embed="rId3"/>
                <a:stretch>
                  <a:fillRect l="-2539" t="-1279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6D6C836F-8630-D44F-1493-298DD1757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65" y="2080719"/>
            <a:ext cx="4716717" cy="450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9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DF3BA2-8B0A-5E55-2537-6E94E0A4CB75}"/>
              </a:ext>
            </a:extLst>
          </p:cNvPr>
          <p:cNvSpPr txBox="1"/>
          <p:nvPr/>
        </p:nvSpPr>
        <p:spPr>
          <a:xfrm>
            <a:off x="364290" y="1116166"/>
            <a:ext cx="8365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F309F-4960-5CCD-5A83-3E3A1EF2958B}"/>
              </a:ext>
            </a:extLst>
          </p:cNvPr>
          <p:cNvSpPr txBox="1"/>
          <p:nvPr/>
        </p:nvSpPr>
        <p:spPr>
          <a:xfrm>
            <a:off x="364291" y="181426"/>
            <a:ext cx="11463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Now consider this Python program to display a solid circle: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FAED50A-27C0-F774-CB7D-2734E591C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251320"/>
              </p:ext>
            </p:extLst>
          </p:nvPr>
        </p:nvGraphicFramePr>
        <p:xfrm>
          <a:off x="601328" y="903101"/>
          <a:ext cx="8543555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6970">
                  <a:extLst>
                    <a:ext uri="{9D8B030D-6E8A-4147-A177-3AD203B41FA5}">
                      <a16:colId xmlns:a16="http://schemas.microsoft.com/office/drawing/2014/main" val="3422646134"/>
                    </a:ext>
                  </a:extLst>
                </a:gridCol>
                <a:gridCol w="7706585">
                  <a:extLst>
                    <a:ext uri="{9D8B030D-6E8A-4147-A177-3AD203B41FA5}">
                      <a16:colId xmlns:a16="http://schemas.microsoft.com/office/drawing/2014/main" val="1811962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radius =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6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minY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maxY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55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minX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maxX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81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w = sqrt(x ** 2 + y **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63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 &lt; radius: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33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plot(x, 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6020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2B48714-86B0-BCB5-98BD-EA45D6BC5375}"/>
              </a:ext>
            </a:extLst>
          </p:cNvPr>
          <p:cNvSpPr txBox="1"/>
          <p:nvPr/>
        </p:nvSpPr>
        <p:spPr>
          <a:xfrm>
            <a:off x="499730" y="4095235"/>
            <a:ext cx="11327976" cy="2615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Line 2 </a:t>
            </a:r>
            <a:r>
              <a:rPr lang="en-US" sz="2800" dirty="0"/>
              <a:t>considers every possible integer value on the y-axis.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Line 3 </a:t>
            </a:r>
            <a:r>
              <a:rPr lang="en-US" sz="2800" dirty="0"/>
              <a:t>considers every possible integer value on the x-axis.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Line 5 </a:t>
            </a:r>
            <a:r>
              <a:rPr lang="en-US" sz="2800" dirty="0"/>
              <a:t>checks if the pixel at (x, y) is inside the circle.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Line 6 </a:t>
            </a:r>
            <a:r>
              <a:rPr lang="en-US" sz="2800" dirty="0"/>
              <a:t>fills in the pixel at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1634618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15CD-7D30-0866-F9B6-E24B38A2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E179EA-5D8B-0339-FD44-D1F637114580}"/>
              </a:ext>
            </a:extLst>
          </p:cNvPr>
          <p:cNvSpPr txBox="1"/>
          <p:nvPr/>
        </p:nvSpPr>
        <p:spPr>
          <a:xfrm>
            <a:off x="364290" y="1116166"/>
            <a:ext cx="8365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A25EE-ED7B-FE89-82F9-20B7B0C5FF2D}"/>
              </a:ext>
            </a:extLst>
          </p:cNvPr>
          <p:cNvSpPr txBox="1"/>
          <p:nvPr/>
        </p:nvSpPr>
        <p:spPr>
          <a:xfrm>
            <a:off x="364291" y="181426"/>
            <a:ext cx="11463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现在考虑这个</a:t>
            </a:r>
            <a:r>
              <a:rPr lang="en-US" altLang="zh-CN" sz="2800" dirty="0"/>
              <a:t>Python</a:t>
            </a:r>
            <a:r>
              <a:rPr lang="zh-CN" altLang="en-US" sz="2800" dirty="0"/>
              <a:t>程序，显示一个实心圆：</a:t>
            </a:r>
            <a:endParaRPr lang="en-US" sz="28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96104C0-3699-4D4A-28BE-C94ECCD3F761}"/>
              </a:ext>
            </a:extLst>
          </p:cNvPr>
          <p:cNvGraphicFramePr>
            <a:graphicFrameLocks noGrp="1"/>
          </p:cNvGraphicFramePr>
          <p:nvPr/>
        </p:nvGraphicFramePr>
        <p:xfrm>
          <a:off x="601328" y="903101"/>
          <a:ext cx="8543555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6970">
                  <a:extLst>
                    <a:ext uri="{9D8B030D-6E8A-4147-A177-3AD203B41FA5}">
                      <a16:colId xmlns:a16="http://schemas.microsoft.com/office/drawing/2014/main" val="3422646134"/>
                    </a:ext>
                  </a:extLst>
                </a:gridCol>
                <a:gridCol w="7706585">
                  <a:extLst>
                    <a:ext uri="{9D8B030D-6E8A-4147-A177-3AD203B41FA5}">
                      <a16:colId xmlns:a16="http://schemas.microsoft.com/office/drawing/2014/main" val="1811962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radius =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6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minY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maxY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55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8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minX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maxX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81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w = sqrt(x ** 2 + y **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63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 &lt; radius: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33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plot(x, 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6020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13AD783-A93A-12AB-7579-B5A88A5246BF}"/>
              </a:ext>
            </a:extLst>
          </p:cNvPr>
          <p:cNvSpPr txBox="1"/>
          <p:nvPr/>
        </p:nvSpPr>
        <p:spPr>
          <a:xfrm>
            <a:off x="499730" y="4095235"/>
            <a:ext cx="11327976" cy="2615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第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行</a:t>
            </a:r>
            <a:r>
              <a:rPr lang="zh-CN" altLang="en-US" sz="2800" dirty="0"/>
              <a:t>考虑</a:t>
            </a:r>
            <a:r>
              <a:rPr lang="en-US" altLang="zh-CN" sz="2800" dirty="0"/>
              <a:t>y</a:t>
            </a:r>
            <a:r>
              <a:rPr lang="zh-CN" altLang="en-US" sz="2800" dirty="0"/>
              <a:t>轴上所有可能的整数值。</a:t>
            </a:r>
            <a:r>
              <a:rPr lang="zh-CN" altLang="en-US" sz="2800" b="1" dirty="0"/>
              <a:t>
第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行</a:t>
            </a:r>
            <a:r>
              <a:rPr lang="zh-CN" altLang="en-US" sz="2800" dirty="0"/>
              <a:t>考虑了</a:t>
            </a:r>
            <a:r>
              <a:rPr lang="en-US" altLang="zh-CN" sz="2800" dirty="0"/>
              <a:t>x</a:t>
            </a:r>
            <a:r>
              <a:rPr lang="zh-CN" altLang="en-US" sz="2800" dirty="0"/>
              <a:t>轴上所有可能的整数值。</a:t>
            </a:r>
            <a:r>
              <a:rPr lang="zh-CN" altLang="en-US" sz="2800" b="1" dirty="0"/>
              <a:t>
第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行</a:t>
            </a:r>
            <a:r>
              <a:rPr lang="zh-CN" altLang="en-US" sz="2800" dirty="0"/>
              <a:t>检查（</a:t>
            </a:r>
            <a:r>
              <a:rPr lang="en-US" altLang="zh-CN" sz="2800" dirty="0"/>
              <a:t>x,</a:t>
            </a:r>
            <a:r>
              <a:rPr lang="zh-CN" altLang="en-US" sz="2800" dirty="0"/>
              <a:t> </a:t>
            </a:r>
            <a:r>
              <a:rPr lang="en-US" altLang="zh-CN" sz="2800" dirty="0"/>
              <a:t>y</a:t>
            </a:r>
            <a:r>
              <a:rPr lang="zh-CN" altLang="en-US" sz="2800" dirty="0"/>
              <a:t>）处的像素是否在圆圈内。</a:t>
            </a:r>
            <a:r>
              <a:rPr lang="zh-CN" altLang="en-US" sz="2800" b="1" dirty="0"/>
              <a:t>
第</a:t>
            </a:r>
            <a:r>
              <a:rPr lang="en-US" altLang="zh-CN" sz="2800" b="1" dirty="0"/>
              <a:t>6</a:t>
            </a:r>
            <a:r>
              <a:rPr lang="zh-CN" altLang="en-US" sz="2800" b="1" dirty="0"/>
              <a:t>行</a:t>
            </a:r>
            <a:r>
              <a:rPr lang="zh-CN" altLang="en-US" sz="2800" dirty="0"/>
              <a:t>填充该位置的像素。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700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BC21BE-AF6E-D611-5CDB-1A7176576CC9}"/>
              </a:ext>
            </a:extLst>
          </p:cNvPr>
          <p:cNvSpPr txBox="1"/>
          <p:nvPr/>
        </p:nvSpPr>
        <p:spPr>
          <a:xfrm>
            <a:off x="211893" y="839662"/>
            <a:ext cx="70572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run the program, open up lesson</a:t>
            </a:r>
            <a:r>
              <a:rPr lang="en-US" sz="2800" b="1" dirty="0"/>
              <a:t> 260602 </a:t>
            </a:r>
            <a:r>
              <a:rPr lang="en-US" sz="2800" dirty="0"/>
              <a:t>on the website.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38CA53-38F9-3FC0-0E4E-CFAAB13B59D4}"/>
              </a:ext>
            </a:extLst>
          </p:cNvPr>
          <p:cNvGrpSpPr/>
          <p:nvPr/>
        </p:nvGrpSpPr>
        <p:grpSpPr>
          <a:xfrm>
            <a:off x="211893" y="0"/>
            <a:ext cx="11980107" cy="4902312"/>
            <a:chOff x="211893" y="98927"/>
            <a:chExt cx="11980107" cy="49023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B29D02-0976-D9B2-F614-9965E680A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7972" y="98927"/>
              <a:ext cx="5054028" cy="4902312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DD80B40-6A5E-D603-2C1B-8109D15E3C10}"/>
                </a:ext>
              </a:extLst>
            </p:cNvPr>
            <p:cNvCxnSpPr>
              <a:cxnSpLocks/>
            </p:cNvCxnSpPr>
            <p:nvPr/>
          </p:nvCxnSpPr>
          <p:spPr>
            <a:xfrm>
              <a:off x="4157331" y="2550083"/>
              <a:ext cx="2725460" cy="141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6A97F14-F356-EA05-323E-FB48E60012D7}"/>
                </a:ext>
              </a:extLst>
            </p:cNvPr>
            <p:cNvSpPr txBox="1"/>
            <p:nvPr/>
          </p:nvSpPr>
          <p:spPr>
            <a:xfrm>
              <a:off x="211893" y="2302665"/>
              <a:ext cx="70572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/>
                <a:t>The result looks like this.</a:t>
              </a:r>
              <a:endParaRPr lang="en-US" sz="28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C0D0744-5463-7ACA-08C8-6BE5AD319A6D}"/>
              </a:ext>
            </a:extLst>
          </p:cNvPr>
          <p:cNvSpPr txBox="1"/>
          <p:nvPr/>
        </p:nvSpPr>
        <p:spPr>
          <a:xfrm>
            <a:off x="211893" y="3348040"/>
            <a:ext cx="77093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Because pixels are not infinitely small, the edge of the circle is not smooth.</a:t>
            </a:r>
          </a:p>
          <a:p>
            <a:endParaRPr lang="en-US" sz="2800" dirty="0"/>
          </a:p>
          <a:p>
            <a:r>
              <a:rPr lang="en-US" sz="2800" dirty="0"/>
              <a:t>We can only </a:t>
            </a:r>
            <a:r>
              <a:rPr lang="en-US" sz="2800" b="1" dirty="0"/>
              <a:t>approximate </a:t>
            </a:r>
            <a:r>
              <a:rPr lang="en-US" sz="2800" dirty="0"/>
              <a:t>a circle with pixels.</a:t>
            </a:r>
          </a:p>
          <a:p>
            <a:endParaRPr lang="en-US" sz="2800" dirty="0"/>
          </a:p>
          <a:p>
            <a:r>
              <a:rPr lang="en-US" sz="2800" dirty="0"/>
              <a:t>Converting a mathematical shape to pixels is called </a:t>
            </a:r>
            <a:r>
              <a:rPr lang="en-US" sz="2800" b="1" dirty="0" err="1"/>
              <a:t>rasterisation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349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39319-F5E0-6653-5E2F-5313855A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56E15D2-68B6-1219-6585-631522599D12}"/>
              </a:ext>
            </a:extLst>
          </p:cNvPr>
          <p:cNvGrpSpPr/>
          <p:nvPr/>
        </p:nvGrpSpPr>
        <p:grpSpPr>
          <a:xfrm>
            <a:off x="2215100" y="98927"/>
            <a:ext cx="9976900" cy="4902312"/>
            <a:chOff x="2215100" y="98927"/>
            <a:chExt cx="9976900" cy="49023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97928D-91C2-2827-7150-3889F873F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7972" y="98927"/>
              <a:ext cx="5054028" cy="4902312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2F3B0F6-6147-2473-2C75-E79FEB9993F2}"/>
                </a:ext>
              </a:extLst>
            </p:cNvPr>
            <p:cNvCxnSpPr>
              <a:cxnSpLocks/>
            </p:cNvCxnSpPr>
            <p:nvPr/>
          </p:nvCxnSpPr>
          <p:spPr>
            <a:xfrm>
              <a:off x="4157331" y="2550083"/>
              <a:ext cx="2725460" cy="141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BC2743A-5A52-1ED1-AC4A-037000124CB4}"/>
                </a:ext>
              </a:extLst>
            </p:cNvPr>
            <p:cNvSpPr txBox="1"/>
            <p:nvPr/>
          </p:nvSpPr>
          <p:spPr>
            <a:xfrm>
              <a:off x="2215100" y="2302665"/>
              <a:ext cx="50540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结果如下。</a:t>
              </a:r>
              <a:endParaRPr lang="en-US" sz="28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C19257A-4DA6-381C-9AD3-0D841015A0FD}"/>
              </a:ext>
            </a:extLst>
          </p:cNvPr>
          <p:cNvSpPr txBox="1"/>
          <p:nvPr/>
        </p:nvSpPr>
        <p:spPr>
          <a:xfrm>
            <a:off x="211892" y="3464934"/>
            <a:ext cx="77093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由于像素不是无限小的，圆的边缘并不光滑。</a:t>
            </a:r>
            <a:endParaRPr lang="en-US" altLang="zh-CN" sz="2800" dirty="0"/>
          </a:p>
          <a:p>
            <a:r>
              <a:rPr lang="zh-CN" altLang="en-US" sz="2800" dirty="0"/>
              <a:t>
我们只能用像素近似一个圆。</a:t>
            </a:r>
            <a:endParaRPr lang="en-US" altLang="zh-CN" sz="2800" dirty="0"/>
          </a:p>
          <a:p>
            <a:r>
              <a:rPr lang="zh-CN" altLang="en-US" sz="2800" dirty="0"/>
              <a:t>
将数学形状转换为像素称为</a:t>
            </a:r>
            <a:r>
              <a:rPr lang="en-US" altLang="zh-CN" sz="2800" b="1" dirty="0" err="1"/>
              <a:t>rasterisation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96711-DFC8-1B26-2816-C6BF7C8E4186}"/>
              </a:ext>
            </a:extLst>
          </p:cNvPr>
          <p:cNvSpPr txBox="1"/>
          <p:nvPr/>
        </p:nvSpPr>
        <p:spPr>
          <a:xfrm>
            <a:off x="211893" y="677576"/>
            <a:ext cx="7057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要运行该程序，请在网站上打开课程</a:t>
            </a:r>
            <a:r>
              <a:rPr lang="en-US" altLang="zh-CN" sz="2800" b="1" dirty="0"/>
              <a:t>260602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984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C445DF-A9A2-62D0-4D4D-AF2C9AF7026F}"/>
                  </a:ext>
                </a:extLst>
              </p:cNvPr>
              <p:cNvSpPr txBox="1"/>
              <p:nvPr/>
            </p:nvSpPr>
            <p:spPr>
              <a:xfrm>
                <a:off x="311888" y="287079"/>
                <a:ext cx="11568223" cy="6231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Look at the worksheet.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It explains how to edit the Python program so that you can </a:t>
                </a:r>
                <a:r>
                  <a:rPr lang="en-US" sz="2800" b="1" dirty="0"/>
                  <a:t>count the number of pixels </a:t>
                </a:r>
                <a:r>
                  <a:rPr lang="en-US" sz="2800" dirty="0"/>
                  <a:t>in the circle.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Complete the table to compare the area of a perfect circle with the number of pixels in the </a:t>
                </a:r>
                <a:r>
                  <a:rPr lang="en-US" sz="2800" dirty="0" err="1"/>
                  <a:t>rasterised</a:t>
                </a:r>
                <a:r>
                  <a:rPr lang="en-US" sz="2800" dirty="0"/>
                  <a:t> circle.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To calculate percentage error, use this formula: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𝑝𝑒𝑟𝑐𝑒𝑛𝑡𝑎𝑔𝑒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𝑝𝑖𝑥𝑒𝑙𝑠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𝑚𝑎𝑡h𝑒𝑚𝑎𝑡𝑖𝑐𝑎𝑙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What patterns do you notice?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C445DF-A9A2-62D0-4D4D-AF2C9AF70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8" y="287079"/>
                <a:ext cx="11568223" cy="6231129"/>
              </a:xfrm>
              <a:prstGeom prst="rect">
                <a:avLst/>
              </a:prstGeom>
              <a:blipFill>
                <a:blip r:embed="rId2"/>
                <a:stretch>
                  <a:fillRect l="-1054" t="-978" b="-1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96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8DA2-5101-662D-211A-32071DBD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A87E95-AB52-2816-B774-4595B81057F8}"/>
                  </a:ext>
                </a:extLst>
              </p:cNvPr>
              <p:cNvSpPr txBox="1"/>
              <p:nvPr/>
            </p:nvSpPr>
            <p:spPr>
              <a:xfrm>
                <a:off x="311888" y="287079"/>
                <a:ext cx="11568223" cy="5800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看看练习题。</a:t>
                </a:r>
                <a:endParaRPr lang="en-US" altLang="zh-CN" sz="2800" dirty="0"/>
              </a:p>
              <a:p>
                <a:r>
                  <a:rPr lang="zh-CN" altLang="en-US" sz="2800" dirty="0"/>
                  <a:t>
它解释了如何编辑</a:t>
                </a:r>
                <a:r>
                  <a:rPr lang="en-US" altLang="zh-CN" sz="2800" dirty="0"/>
                  <a:t>Python</a:t>
                </a:r>
                <a:r>
                  <a:rPr lang="zh-CN" altLang="en-US" sz="2800" dirty="0"/>
                  <a:t>程序，这样你就能计算圆圈中的像素数。</a:t>
                </a:r>
                <a:endParaRPr lang="en-US" altLang="zh-CN" sz="2800" dirty="0"/>
              </a:p>
              <a:p>
                <a:r>
                  <a:rPr lang="zh-CN" altLang="en-US" sz="2800" dirty="0"/>
                  <a:t>
完成表格，比较完美圆面积与光栅化圆内像素数。</a:t>
                </a:r>
                <a:endParaRPr lang="en-US" altLang="zh-CN" sz="2800" dirty="0"/>
              </a:p>
              <a:p>
                <a:r>
                  <a:rPr lang="zh-CN" altLang="en-US" sz="2800" dirty="0"/>
                  <a:t>
计算误差百分比时，使用以下公式：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𝑝𝑒𝑟𝑐𝑒𝑛𝑡𝑎𝑔𝑒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𝑝𝑖𝑥𝑒𝑙𝑠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𝑚𝑎𝑡h𝑒𝑚𝑎𝑡𝑖𝑐𝑎𝑙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𝑎𝑟𝑒𝑎</m:t>
                              </m:r>
                            </m:den>
                          </m:f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zh-CN" altLang="en-US" sz="2800" dirty="0"/>
                  <a:t>你注意到哪些规律？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A87E95-AB52-2816-B774-4595B8105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8" y="287079"/>
                <a:ext cx="11568223" cy="5800242"/>
              </a:xfrm>
              <a:prstGeom prst="rect">
                <a:avLst/>
              </a:prstGeom>
              <a:blipFill>
                <a:blip r:embed="rId2"/>
                <a:stretch>
                  <a:fillRect l="-1054" t="-1155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0469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40F205-335D-50F9-8AE9-B2DD8B5CD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760" y="435935"/>
            <a:ext cx="4762500" cy="4752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0E91C3-1630-20B1-3A5D-770A77B4E1CB}"/>
              </a:ext>
            </a:extLst>
          </p:cNvPr>
          <p:cNvSpPr txBox="1"/>
          <p:nvPr/>
        </p:nvSpPr>
        <p:spPr>
          <a:xfrm>
            <a:off x="184740" y="1012878"/>
            <a:ext cx="73577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Extension For Advanced Students</a:t>
            </a:r>
          </a:p>
          <a:p>
            <a:endParaRPr lang="en-US" sz="2800" dirty="0"/>
          </a:p>
          <a:p>
            <a:r>
              <a:rPr lang="en-US" sz="2800" dirty="0"/>
              <a:t>To create more accurate graphics, a common technique in </a:t>
            </a:r>
            <a:r>
              <a:rPr lang="en-US" sz="2800" dirty="0" err="1"/>
              <a:t>rasterising</a:t>
            </a:r>
            <a:r>
              <a:rPr lang="en-US" sz="2800" dirty="0"/>
              <a:t> is to use different shades of </a:t>
            </a:r>
            <a:r>
              <a:rPr lang="en-US" sz="2800" dirty="0" err="1"/>
              <a:t>colour</a:t>
            </a:r>
            <a:r>
              <a:rPr lang="en-US" sz="2800" dirty="0"/>
              <a:t> for pixels which are on the boundary.</a:t>
            </a:r>
          </a:p>
          <a:p>
            <a:endParaRPr lang="en-US" sz="2800" dirty="0"/>
          </a:p>
          <a:p>
            <a:r>
              <a:rPr lang="en-US" sz="2800" dirty="0"/>
              <a:t>You can change the shade of a pixel by using the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ink(x) </a:t>
            </a:r>
            <a:r>
              <a:rPr lang="en-US" sz="2800" dirty="0"/>
              <a:t>command, where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/>
              <a:t> is a number between 0 and 1.</a:t>
            </a:r>
          </a:p>
        </p:txBody>
      </p:sp>
    </p:spTree>
    <p:extLst>
      <p:ext uri="{BB962C8B-B14F-4D97-AF65-F5344CB8AC3E}">
        <p14:creationId xmlns:p14="http://schemas.microsoft.com/office/powerpoint/2010/main" val="52828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66FBB-67BE-A69F-F9C6-4BA4E7FD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62C754-22F9-FDCA-F879-1206DA341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760" y="435935"/>
            <a:ext cx="4762500" cy="4752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AA893-CE0C-DB4F-CF47-433CBB03F0AB}"/>
              </a:ext>
            </a:extLst>
          </p:cNvPr>
          <p:cNvSpPr txBox="1"/>
          <p:nvPr/>
        </p:nvSpPr>
        <p:spPr>
          <a:xfrm>
            <a:off x="330115" y="1611593"/>
            <a:ext cx="67238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Extension For Advanced Students</a:t>
            </a:r>
          </a:p>
          <a:p>
            <a:endParaRPr lang="en-US" sz="2800" dirty="0"/>
          </a:p>
          <a:p>
            <a:r>
              <a:rPr lang="zh-CN" altLang="en-US" sz="2800" dirty="0"/>
              <a:t>为了制作更准确的图形，</a:t>
            </a:r>
            <a:r>
              <a:rPr lang="en-US" altLang="zh-CN" sz="2800" dirty="0" err="1"/>
              <a:t>rasterising</a:t>
            </a:r>
            <a:r>
              <a:rPr lang="zh-CN" altLang="en-US" sz="2800" dirty="0"/>
              <a:t>常用的技术是对边界上的像素使用不同色调。</a:t>
            </a:r>
            <a:endParaRPr lang="en-US" altLang="zh-CN" sz="2800" dirty="0"/>
          </a:p>
          <a:p>
            <a:endParaRPr lang="en-US" sz="2800" dirty="0"/>
          </a:p>
          <a:p>
            <a:r>
              <a:rPr lang="zh-CN" altLang="en-US" sz="2800" dirty="0"/>
              <a:t>你可以用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ink(x)</a:t>
            </a:r>
            <a:r>
              <a:rPr lang="zh-CN" altLang="en-US" sz="2800" dirty="0"/>
              <a:t> 命令来改变像素的色调，其中 </a:t>
            </a:r>
            <a:r>
              <a:rPr lang="en-US" altLang="zh-CN" sz="2800" dirty="0"/>
              <a:t>x </a:t>
            </a:r>
            <a:r>
              <a:rPr lang="zh-CN" altLang="en-US" sz="2800" dirty="0"/>
              <a:t>是 </a:t>
            </a:r>
            <a:r>
              <a:rPr lang="en-US" altLang="zh-CN" sz="2800" dirty="0"/>
              <a:t>0 </a:t>
            </a:r>
            <a:r>
              <a:rPr lang="zh-CN" altLang="en-US" sz="2800" dirty="0"/>
              <a:t>和 </a:t>
            </a:r>
            <a:r>
              <a:rPr lang="en-US" altLang="zh-CN" sz="2800" dirty="0"/>
              <a:t>1 </a:t>
            </a:r>
            <a:r>
              <a:rPr lang="zh-CN" altLang="en-US" sz="2800" dirty="0"/>
              <a:t>之间的数字。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72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776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Cressey (DHHQ)</dc:creator>
  <cp:lastModifiedBy>Lewis Cressey (DHHQ)</cp:lastModifiedBy>
  <cp:revision>11</cp:revision>
  <dcterms:created xsi:type="dcterms:W3CDTF">2026-05-31T23:52:26Z</dcterms:created>
  <dcterms:modified xsi:type="dcterms:W3CDTF">2026-06-02T05:38:52Z</dcterms:modified>
</cp:coreProperties>
</file>