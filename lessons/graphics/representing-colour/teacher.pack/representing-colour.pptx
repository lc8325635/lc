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65" r:id="rId4"/>
    <p:sldId id="257" r:id="rId5"/>
    <p:sldId id="277" r:id="rId6"/>
    <p:sldId id="258" r:id="rId7"/>
    <p:sldId id="278" r:id="rId8"/>
    <p:sldId id="259" r:id="rId9"/>
    <p:sldId id="280" r:id="rId10"/>
    <p:sldId id="281" r:id="rId11"/>
    <p:sldId id="275" r:id="rId12"/>
    <p:sldId id="27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FF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4E4F8-4016-9CAE-41CA-7DE78DB35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8EC9D3-8370-62C7-A0C0-875CDFFC0E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5CB35-0361-A7A3-375F-12A4D2AC0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0D47-9CC8-4E0F-B6F3-DA458ADEFDC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08E13-3140-34C1-305E-BA3BBDDE5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8CF9F-AF1F-8BF3-47DA-AD2B735C2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7121E-E023-491C-85A1-5A59C55CE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416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D1FDD-0A4B-6317-1E6D-4929AC5EF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DBCA3-F109-48E6-3B4D-DFC39A865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5A59B-3463-C5ED-1943-C577ADB67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0D47-9CC8-4E0F-B6F3-DA458ADEFDC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7C2E4-2BDD-0DDE-3724-75A1F98A1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31181-5DD1-31F9-8E66-A2C8AA2C0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7121E-E023-491C-85A1-5A59C55CE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049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6AFB4-3359-ECAB-021B-0DBDECE18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C27AF-E070-9AFA-4B32-E4A5ED971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5270E-DF3A-2811-4E19-D5AA1EA69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0D47-9CC8-4E0F-B6F3-DA458ADEFDC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F02C0-D1EF-CCF4-4B08-DFE332F81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2C79E-C501-7F23-51FF-68D3FB2EE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7121E-E023-491C-85A1-5A59C55CE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97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79040-2C90-F7F1-C872-6B6FCC1C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1E226-2B91-2652-B87E-94DD1DFC27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D85A5-9657-0A65-56A2-E1331DD66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FA72D-53ED-FD5D-76B3-F4E6D99BC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0D47-9CC8-4E0F-B6F3-DA458ADEFDC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6B073-1E90-AEDF-F7E2-CCF5A84F4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A78AC-9F5F-89EC-A330-5A940B27C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7121E-E023-491C-85A1-5A59C55CE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536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5ACE-CA3A-4537-162B-89B09A3BE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82410-A5E3-25C7-4238-480DAF679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33341-C315-796C-A31D-7B49F9D1E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B000B6-94D6-0F97-8516-F13430D7E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C30786-C0F1-8742-D1B3-F436FC57DA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ACBFEC-AA23-6C1A-6C3E-6058C575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0D47-9CC8-4E0F-B6F3-DA458ADEFDC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094C1A-C229-C807-956D-7DC75E6F2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4F8724-B311-E44C-A50B-07A7776EA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7121E-E023-491C-85A1-5A59C55CE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0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F66AF-74A8-E080-5D96-306FED3D0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5274A3-087B-F3A1-832F-0B3D0D976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0D47-9CC8-4E0F-B6F3-DA458ADEFDC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7275E0-06F1-7F8E-6FB9-078A17BEA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59BD9-7640-F234-58C6-16B3D32F5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7121E-E023-491C-85A1-5A59C55CE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031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952F39-481D-80A0-FA18-2316490F0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0D47-9CC8-4E0F-B6F3-DA458ADEFDC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35E4C8-0AF1-3CB9-1E00-B550E946F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2EB20-2819-96E6-EC4B-3D9DF3A77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7121E-E023-491C-85A1-5A59C55CE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7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A9B9-BFD4-04EC-A22F-F5A30489D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11DF5-AF96-EE06-5D1C-265CCCBA2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6BF240-7861-EAD7-D024-DD7890546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93A25-7175-F9EE-0337-173B684A0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0D47-9CC8-4E0F-B6F3-DA458ADEFDC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0BE2E0-A1BE-63FA-0598-A7F5339E5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4E89F-1F8D-1D59-1F48-570CB5243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7121E-E023-491C-85A1-5A59C55CE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492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45E0A-02A1-626D-02C7-B063229ED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4CDB8A-814C-6BE1-43BB-B853F9696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2ED58-9DAB-A44D-DA5C-AADACECC2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621D7-5251-3804-1801-820C39603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0D47-9CC8-4E0F-B6F3-DA458ADEFDC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DC5FED-AA55-7B40-B99E-278686B32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ED77B-AF52-B237-200F-2C5325B94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7121E-E023-491C-85A1-5A59C55CE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95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36AB-A404-A497-BE9A-EA032FA5C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3594B-0E0E-342A-F954-2A22F38CC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0905F-E3C7-D22C-1127-F36D92E17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0D47-9CC8-4E0F-B6F3-DA458ADEFDC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1F049-4ACD-680E-7F1C-2ACF47360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C6B02-C98C-A410-924C-C6D120519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7121E-E023-491C-85A1-5A59C55CE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7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5B0251-50E9-A9CE-898B-9B5EEB1D00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3B70BA-555D-A06D-5329-47B915E9F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7E25D-8B3F-A9E0-0A97-D5B999A24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0D47-9CC8-4E0F-B6F3-DA458ADEFDC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81608-A63C-EFB6-FDFC-59B0F23D7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A6583-D4B2-4049-6A60-51D25A032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7121E-E023-491C-85A1-5A59C55CE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212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1B087C-00D8-5780-101C-363CEF548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8FE8D-9135-958F-666C-CCF4F4ED3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8E48D-74B3-871C-69E9-D9F2D18AAE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610D47-9CC8-4E0F-B6F3-DA458ADEFDC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70569-E495-77B4-EA8A-B12E7032CE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F8004-E799-2907-DAD1-ADAD51038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67121E-E023-491C-85A1-5A59C55CE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708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E4C792F-0A66-96EA-B6E1-A7BA4F793FEA}"/>
              </a:ext>
            </a:extLst>
          </p:cNvPr>
          <p:cNvSpPr txBox="1"/>
          <p:nvPr/>
        </p:nvSpPr>
        <p:spPr>
          <a:xfrm>
            <a:off x="6558010" y="928671"/>
            <a:ext cx="494059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Every </a:t>
            </a:r>
            <a:r>
              <a:rPr lang="en-US" sz="2800" dirty="0" err="1"/>
              <a:t>colour</a:t>
            </a:r>
            <a:r>
              <a:rPr lang="en-US" sz="2800" dirty="0"/>
              <a:t> that we see can be made by mixing just three </a:t>
            </a:r>
            <a:r>
              <a:rPr lang="en-US" sz="2800" b="1" dirty="0"/>
              <a:t>primary </a:t>
            </a:r>
            <a:r>
              <a:rPr lang="en-US" sz="2800" b="1" dirty="0" err="1"/>
              <a:t>colours</a:t>
            </a:r>
            <a:r>
              <a:rPr lang="en-US" sz="2800" b="1" dirty="0"/>
              <a:t> </a:t>
            </a:r>
            <a:r>
              <a:rPr lang="en-US" sz="2800" dirty="0"/>
              <a:t>together.</a:t>
            </a:r>
          </a:p>
          <a:p>
            <a:endParaRPr lang="en-US" sz="2800" dirty="0"/>
          </a:p>
          <a:p>
            <a:r>
              <a:rPr lang="en-US" sz="2800" dirty="0"/>
              <a:t>What are those three </a:t>
            </a:r>
            <a:r>
              <a:rPr lang="en-US" sz="2800" dirty="0" err="1"/>
              <a:t>colours</a:t>
            </a:r>
            <a:r>
              <a:rPr lang="en-US" sz="2800" dirty="0"/>
              <a:t>?</a:t>
            </a:r>
          </a:p>
        </p:txBody>
      </p:sp>
      <p:pic>
        <p:nvPicPr>
          <p:cNvPr id="1026" name="Picture 2" descr="关于颜料色彩的中英文对照及解析—珍藏版__凤凰网">
            <a:extLst>
              <a:ext uri="{FF2B5EF4-FFF2-40B4-BE49-F238E27FC236}">
                <a16:creationId xmlns:a16="http://schemas.microsoft.com/office/drawing/2014/main" id="{21BCA96A-96DF-1895-761E-EDE419612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448" y="297712"/>
            <a:ext cx="5192232" cy="35086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70140ED-2B50-D6F0-E073-6C13412CDF5C}"/>
              </a:ext>
            </a:extLst>
          </p:cNvPr>
          <p:cNvSpPr/>
          <p:nvPr/>
        </p:nvSpPr>
        <p:spPr>
          <a:xfrm>
            <a:off x="1052624" y="4128753"/>
            <a:ext cx="691117" cy="69111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C5E0A54-86DF-A7C5-0543-ED3FDCB3E59A}"/>
              </a:ext>
            </a:extLst>
          </p:cNvPr>
          <p:cNvSpPr/>
          <p:nvPr/>
        </p:nvSpPr>
        <p:spPr>
          <a:xfrm>
            <a:off x="1038448" y="4967065"/>
            <a:ext cx="691117" cy="69111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78B08F9-FF5A-0A6B-8EAD-A84C5A125D72}"/>
              </a:ext>
            </a:extLst>
          </p:cNvPr>
          <p:cNvSpPr/>
          <p:nvPr/>
        </p:nvSpPr>
        <p:spPr>
          <a:xfrm>
            <a:off x="1038447" y="5805377"/>
            <a:ext cx="691117" cy="69111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BBF84C-4F6E-0509-D6F3-310633419CD3}"/>
              </a:ext>
            </a:extLst>
          </p:cNvPr>
          <p:cNvSpPr txBox="1"/>
          <p:nvPr/>
        </p:nvSpPr>
        <p:spPr>
          <a:xfrm>
            <a:off x="1933861" y="4212429"/>
            <a:ext cx="5538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Red, Yellow and Blue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7AC489-509C-21D9-49CC-FBB73BCB40DE}"/>
              </a:ext>
            </a:extLst>
          </p:cNvPr>
          <p:cNvSpPr txBox="1"/>
          <p:nvPr/>
        </p:nvSpPr>
        <p:spPr>
          <a:xfrm>
            <a:off x="1956391" y="5050741"/>
            <a:ext cx="5538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Red, Green and Blue.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C256CA-E9DF-BB57-4D52-7794C58733BC}"/>
              </a:ext>
            </a:extLst>
          </p:cNvPr>
          <p:cNvSpPr txBox="1"/>
          <p:nvPr/>
        </p:nvSpPr>
        <p:spPr>
          <a:xfrm>
            <a:off x="1933861" y="5889325"/>
            <a:ext cx="5538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Cyan, Magenta and Yellow.</a:t>
            </a:r>
          </a:p>
        </p:txBody>
      </p:sp>
    </p:spTree>
    <p:extLst>
      <p:ext uri="{BB962C8B-B14F-4D97-AF65-F5344CB8AC3E}">
        <p14:creationId xmlns:p14="http://schemas.microsoft.com/office/powerpoint/2010/main" val="1095289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AC598-1C3E-C7D4-E6B1-7A67F100E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5622CE0-3146-1820-CA19-90A4983E0080}"/>
              </a:ext>
            </a:extLst>
          </p:cNvPr>
          <p:cNvSpPr txBox="1"/>
          <p:nvPr/>
        </p:nvSpPr>
        <p:spPr>
          <a:xfrm>
            <a:off x="6558010" y="928671"/>
            <a:ext cx="49405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我们看到的每一种颜色，只需混合三种原色即可制成。</a:t>
            </a:r>
            <a:endParaRPr lang="en-US" altLang="zh-CN" sz="2800" dirty="0"/>
          </a:p>
          <a:p>
            <a:r>
              <a:rPr lang="zh-CN" altLang="en-US" sz="2800" dirty="0"/>
              <a:t>
那三种颜色是什么？</a:t>
            </a:r>
            <a:endParaRPr lang="en-US" sz="2800" dirty="0"/>
          </a:p>
        </p:txBody>
      </p:sp>
      <p:pic>
        <p:nvPicPr>
          <p:cNvPr id="1026" name="Picture 2" descr="关于颜料色彩的中英文对照及解析—珍藏版__凤凰网">
            <a:extLst>
              <a:ext uri="{FF2B5EF4-FFF2-40B4-BE49-F238E27FC236}">
                <a16:creationId xmlns:a16="http://schemas.microsoft.com/office/drawing/2014/main" id="{F168626A-7D88-CF7B-3092-A9303DF78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448" y="297712"/>
            <a:ext cx="5192232" cy="35086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F4BB08D-82FA-23DF-283F-91200CB5D683}"/>
              </a:ext>
            </a:extLst>
          </p:cNvPr>
          <p:cNvSpPr/>
          <p:nvPr/>
        </p:nvSpPr>
        <p:spPr>
          <a:xfrm>
            <a:off x="1052624" y="4128753"/>
            <a:ext cx="691117" cy="69111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1C1CD01-7ECC-D184-E4AC-D0A3B122F30E}"/>
              </a:ext>
            </a:extLst>
          </p:cNvPr>
          <p:cNvSpPr/>
          <p:nvPr/>
        </p:nvSpPr>
        <p:spPr>
          <a:xfrm>
            <a:off x="1038448" y="4967065"/>
            <a:ext cx="691117" cy="69111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87AE5AD-FD9B-A9BD-7C05-DF2F24F3EEC7}"/>
              </a:ext>
            </a:extLst>
          </p:cNvPr>
          <p:cNvSpPr/>
          <p:nvPr/>
        </p:nvSpPr>
        <p:spPr>
          <a:xfrm>
            <a:off x="1038447" y="5805377"/>
            <a:ext cx="691117" cy="69111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8121E1-29FD-7CCF-FE39-969110D54196}"/>
              </a:ext>
            </a:extLst>
          </p:cNvPr>
          <p:cNvSpPr txBox="1"/>
          <p:nvPr/>
        </p:nvSpPr>
        <p:spPr>
          <a:xfrm>
            <a:off x="1933861" y="4212429"/>
            <a:ext cx="5538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红、黄、蓝</a:t>
            </a:r>
            <a:endParaRPr lang="en-US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654A-133E-61CC-D346-BAA2A22C640D}"/>
              </a:ext>
            </a:extLst>
          </p:cNvPr>
          <p:cNvSpPr txBox="1"/>
          <p:nvPr/>
        </p:nvSpPr>
        <p:spPr>
          <a:xfrm>
            <a:off x="1956391" y="5050741"/>
            <a:ext cx="5538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红色、绿色、蓝色。</a:t>
            </a:r>
            <a:endParaRPr lang="en-US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02B153-F063-4A86-3F28-C6CC15DBDFE7}"/>
              </a:ext>
            </a:extLst>
          </p:cNvPr>
          <p:cNvSpPr txBox="1"/>
          <p:nvPr/>
        </p:nvSpPr>
        <p:spPr>
          <a:xfrm>
            <a:off x="1933861" y="5889325"/>
            <a:ext cx="5538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青色、品红色、黄色。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68829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4A0989-859F-7768-FDCD-C15C49DCC3F6}"/>
              </a:ext>
            </a:extLst>
          </p:cNvPr>
          <p:cNvSpPr txBox="1"/>
          <p:nvPr/>
        </p:nvSpPr>
        <p:spPr>
          <a:xfrm>
            <a:off x="462337" y="2984127"/>
            <a:ext cx="112193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u="sng" dirty="0"/>
              <a:t>Representing </a:t>
            </a:r>
            <a:r>
              <a:rPr lang="en-US" sz="4000" u="sng" dirty="0" err="1"/>
              <a:t>Colour</a:t>
            </a:r>
            <a:endParaRPr lang="en-US" sz="4000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23725-174E-9759-6B5D-2FD7C73275D5}"/>
              </a:ext>
            </a:extLst>
          </p:cNvPr>
          <p:cNvSpPr txBox="1"/>
          <p:nvPr/>
        </p:nvSpPr>
        <p:spPr>
          <a:xfrm>
            <a:off x="7510409" y="174661"/>
            <a:ext cx="4294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46C2981-7EAB-4B3A-B427-1CF598C22540}" type="datetime3">
              <a:rPr lang="en-US" sz="2400" smtClean="0"/>
              <a:pPr algn="r"/>
              <a:t>9 June 2026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74191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A5666A1-DE4E-B51D-C112-002349AC0C40}"/>
              </a:ext>
            </a:extLst>
          </p:cNvPr>
          <p:cNvSpPr/>
          <p:nvPr/>
        </p:nvSpPr>
        <p:spPr>
          <a:xfrm>
            <a:off x="708837" y="1666136"/>
            <a:ext cx="691117" cy="69111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F56B17B-7D1B-4315-860B-682E3433EFD9}"/>
              </a:ext>
            </a:extLst>
          </p:cNvPr>
          <p:cNvSpPr/>
          <p:nvPr/>
        </p:nvSpPr>
        <p:spPr>
          <a:xfrm>
            <a:off x="708837" y="3430154"/>
            <a:ext cx="691117" cy="69111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7016ABC-6EEC-A8E2-2C88-B1C16E36A5AB}"/>
              </a:ext>
            </a:extLst>
          </p:cNvPr>
          <p:cNvSpPr/>
          <p:nvPr/>
        </p:nvSpPr>
        <p:spPr>
          <a:xfrm>
            <a:off x="708837" y="5146354"/>
            <a:ext cx="691117" cy="69111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63F02F-018A-26FF-20C1-F9945B8B0D5C}"/>
              </a:ext>
            </a:extLst>
          </p:cNvPr>
          <p:cNvSpPr txBox="1"/>
          <p:nvPr/>
        </p:nvSpPr>
        <p:spPr>
          <a:xfrm>
            <a:off x="1590074" y="1749812"/>
            <a:ext cx="5538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Red, Yellow and Blue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013AC1-1A6A-0A75-0CD1-08C6AA5A4D69}"/>
              </a:ext>
            </a:extLst>
          </p:cNvPr>
          <p:cNvSpPr txBox="1"/>
          <p:nvPr/>
        </p:nvSpPr>
        <p:spPr>
          <a:xfrm>
            <a:off x="1626780" y="3513830"/>
            <a:ext cx="5538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Red, Green and Blue.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A3B51D-2313-1E20-8179-28417851C181}"/>
              </a:ext>
            </a:extLst>
          </p:cNvPr>
          <p:cNvSpPr txBox="1"/>
          <p:nvPr/>
        </p:nvSpPr>
        <p:spPr>
          <a:xfrm>
            <a:off x="1604251" y="5230302"/>
            <a:ext cx="5538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Cyan, Magenta and Yellow.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3255F4-8D1B-C8BC-0351-A946ADEDE4BA}"/>
              </a:ext>
            </a:extLst>
          </p:cNvPr>
          <p:cNvSpPr txBox="1"/>
          <p:nvPr/>
        </p:nvSpPr>
        <p:spPr>
          <a:xfrm>
            <a:off x="708837" y="502350"/>
            <a:ext cx="11040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fact, the answer depends on the situation!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455FA1-00B5-3EF1-83A1-AB5197935B55}"/>
              </a:ext>
            </a:extLst>
          </p:cNvPr>
          <p:cNvSpPr txBox="1"/>
          <p:nvPr/>
        </p:nvSpPr>
        <p:spPr>
          <a:xfrm>
            <a:off x="6730409" y="1319455"/>
            <a:ext cx="49041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/>
              <a:t>This system is used by painters. It’s not scientific but it’s practical for art and design.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A9879D-3627-7F42-BA34-4E132CDB04A3}"/>
              </a:ext>
            </a:extLst>
          </p:cNvPr>
          <p:cNvSpPr txBox="1"/>
          <p:nvPr/>
        </p:nvSpPr>
        <p:spPr>
          <a:xfrm>
            <a:off x="6305107" y="3083473"/>
            <a:ext cx="53294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/>
              <a:t>This system, called </a:t>
            </a:r>
            <a:r>
              <a:rPr lang="en-US" sz="2800" b="1" dirty="0"/>
              <a:t>additive </a:t>
            </a:r>
            <a:r>
              <a:rPr lang="en-US" sz="2800" b="1" dirty="0" err="1"/>
              <a:t>colour</a:t>
            </a:r>
            <a:r>
              <a:rPr lang="en-US" sz="2800" dirty="0"/>
              <a:t>, is accurate for screens and other devices that </a:t>
            </a:r>
            <a:r>
              <a:rPr lang="en-US" sz="2800" b="1" dirty="0"/>
              <a:t>emit</a:t>
            </a:r>
            <a:r>
              <a:rPr lang="en-US" sz="2800" dirty="0"/>
              <a:t> </a:t>
            </a:r>
            <a:r>
              <a:rPr lang="en-US" sz="2800" b="1" dirty="0"/>
              <a:t>light</a:t>
            </a:r>
            <a:r>
              <a:rPr lang="en-US" sz="28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30E849-0678-1D6B-CE4B-EA90DB049319}"/>
              </a:ext>
            </a:extLst>
          </p:cNvPr>
          <p:cNvSpPr txBox="1"/>
          <p:nvPr/>
        </p:nvSpPr>
        <p:spPr>
          <a:xfrm>
            <a:off x="6379535" y="4799414"/>
            <a:ext cx="52550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/>
              <a:t>This system, called </a:t>
            </a:r>
            <a:r>
              <a:rPr lang="en-US" sz="2800" b="1" dirty="0"/>
              <a:t>subtractive </a:t>
            </a:r>
            <a:r>
              <a:rPr lang="en-US" sz="2800" b="1" dirty="0" err="1"/>
              <a:t>colour</a:t>
            </a:r>
            <a:r>
              <a:rPr lang="en-US" sz="2800" dirty="0"/>
              <a:t>, is accurate for printing on surfaces that </a:t>
            </a:r>
            <a:r>
              <a:rPr lang="en-US" sz="2800" b="1" dirty="0"/>
              <a:t>reflect light</a:t>
            </a:r>
            <a:r>
              <a:rPr lang="en-US" sz="2800" dirty="0"/>
              <a:t>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3BDDF7-E792-8E14-3B27-A80E0E909C7C}"/>
              </a:ext>
            </a:extLst>
          </p:cNvPr>
          <p:cNvCxnSpPr/>
          <p:nvPr/>
        </p:nvCxnSpPr>
        <p:spPr>
          <a:xfrm>
            <a:off x="708837" y="1127051"/>
            <a:ext cx="1092571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CBC940A-C330-9E70-5641-E0D48CB8E08F}"/>
              </a:ext>
            </a:extLst>
          </p:cNvPr>
          <p:cNvSpPr/>
          <p:nvPr/>
        </p:nvSpPr>
        <p:spPr>
          <a:xfrm>
            <a:off x="615549" y="1344994"/>
            <a:ext cx="11527971" cy="160019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In this lesson, we will focus on </a:t>
            </a:r>
            <a:r>
              <a:rPr lang="en-US" sz="2800" b="1" dirty="0"/>
              <a:t>RGB</a:t>
            </a:r>
            <a:r>
              <a:rPr lang="en-US" sz="2800" dirty="0"/>
              <a:t> </a:t>
            </a:r>
            <a:r>
              <a:rPr lang="en-US" sz="2800" dirty="0" err="1"/>
              <a:t>colour</a:t>
            </a:r>
            <a:r>
              <a:rPr lang="en-US" sz="2800" dirty="0"/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D64FCF-CCD7-3D54-7E36-3E4C8B786A9B}"/>
              </a:ext>
            </a:extLst>
          </p:cNvPr>
          <p:cNvSpPr/>
          <p:nvPr/>
        </p:nvSpPr>
        <p:spPr>
          <a:xfrm>
            <a:off x="541121" y="4584211"/>
            <a:ext cx="11527971" cy="160019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128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EB11E-B44B-F2CE-5EEF-677F307B4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A3EB65-29CA-61EF-5377-6361F80EC279}"/>
              </a:ext>
            </a:extLst>
          </p:cNvPr>
          <p:cNvSpPr/>
          <p:nvPr/>
        </p:nvSpPr>
        <p:spPr>
          <a:xfrm>
            <a:off x="708837" y="1666136"/>
            <a:ext cx="691117" cy="69111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9F88CE8-7FE2-0121-81E9-A27EFA0428E7}"/>
              </a:ext>
            </a:extLst>
          </p:cNvPr>
          <p:cNvSpPr/>
          <p:nvPr/>
        </p:nvSpPr>
        <p:spPr>
          <a:xfrm>
            <a:off x="708837" y="3430154"/>
            <a:ext cx="691117" cy="69111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2C5204-16CB-C6BA-4C85-EBA707585D00}"/>
              </a:ext>
            </a:extLst>
          </p:cNvPr>
          <p:cNvSpPr/>
          <p:nvPr/>
        </p:nvSpPr>
        <p:spPr>
          <a:xfrm>
            <a:off x="708837" y="5146354"/>
            <a:ext cx="691117" cy="69111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A36D30-2147-51D0-42CC-27E9D8977184}"/>
              </a:ext>
            </a:extLst>
          </p:cNvPr>
          <p:cNvSpPr txBox="1"/>
          <p:nvPr/>
        </p:nvSpPr>
        <p:spPr>
          <a:xfrm>
            <a:off x="1590074" y="1749812"/>
            <a:ext cx="5538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红、黄、蓝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175021-A1B0-D144-264E-1BA8B15900DE}"/>
              </a:ext>
            </a:extLst>
          </p:cNvPr>
          <p:cNvSpPr txBox="1"/>
          <p:nvPr/>
        </p:nvSpPr>
        <p:spPr>
          <a:xfrm>
            <a:off x="1626780" y="3513830"/>
            <a:ext cx="5538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红色、绿色、蓝色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D2C365-6409-2B2F-8D6C-CA56DB90D52D}"/>
              </a:ext>
            </a:extLst>
          </p:cNvPr>
          <p:cNvSpPr txBox="1"/>
          <p:nvPr/>
        </p:nvSpPr>
        <p:spPr>
          <a:xfrm>
            <a:off x="1604251" y="5230302"/>
            <a:ext cx="5538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青色、品红色、黄色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2B7219-8A7F-8535-03F6-FD631FAEBB12}"/>
              </a:ext>
            </a:extLst>
          </p:cNvPr>
          <p:cNvSpPr txBox="1"/>
          <p:nvPr/>
        </p:nvSpPr>
        <p:spPr>
          <a:xfrm>
            <a:off x="708837" y="502350"/>
            <a:ext cx="11040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事实上，答案取决于具体情况！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E11F8A-2F7C-F9AF-4C52-99B0881C0869}"/>
              </a:ext>
            </a:extLst>
          </p:cNvPr>
          <p:cNvSpPr txBox="1"/>
          <p:nvPr/>
        </p:nvSpPr>
        <p:spPr>
          <a:xfrm>
            <a:off x="6730409" y="1319455"/>
            <a:ext cx="49041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dirty="0"/>
              <a:t>这种系统被画家使用。这不是科学的，但对艺术和设计来说很实用。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42AA74-3BA1-D194-E103-78170D64EBE7}"/>
              </a:ext>
            </a:extLst>
          </p:cNvPr>
          <p:cNvSpPr txBox="1"/>
          <p:nvPr/>
        </p:nvSpPr>
        <p:spPr>
          <a:xfrm>
            <a:off x="6869429" y="3083473"/>
            <a:ext cx="47651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dirty="0"/>
              <a:t>这种系统称为加色法，适用于屏幕和其他发光设备。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AF54C5-9481-BEA2-4692-0E8C31E8482C}"/>
              </a:ext>
            </a:extLst>
          </p:cNvPr>
          <p:cNvSpPr txBox="1"/>
          <p:nvPr/>
        </p:nvSpPr>
        <p:spPr>
          <a:xfrm>
            <a:off x="6379534" y="5014858"/>
            <a:ext cx="52550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dirty="0"/>
              <a:t>这种称为减色系统的系统，适用于在反射光线的表面上印刷。</a:t>
            </a:r>
            <a:endParaRPr lang="en-US" sz="28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49C908-748B-BEDD-4E37-35AAA4FC57D6}"/>
              </a:ext>
            </a:extLst>
          </p:cNvPr>
          <p:cNvCxnSpPr/>
          <p:nvPr/>
        </p:nvCxnSpPr>
        <p:spPr>
          <a:xfrm>
            <a:off x="708837" y="1127051"/>
            <a:ext cx="1092571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996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Tilable Texture Display LCD RGB - Macro Stock Photo - Image: 28875880">
            <a:extLst>
              <a:ext uri="{FF2B5EF4-FFF2-40B4-BE49-F238E27FC236}">
                <a16:creationId xmlns:a16="http://schemas.microsoft.com/office/drawing/2014/main" id="{74172FC5-96C1-94A3-258B-E1893403F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9" b="11496"/>
          <a:stretch>
            <a:fillRect/>
          </a:stretch>
        </p:blipFill>
        <p:spPr bwMode="auto">
          <a:xfrm>
            <a:off x="279142" y="3613893"/>
            <a:ext cx="5221625" cy="3010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eyond CMYK: Adding More Colours to Your Ink Configuration | Roland DG">
            <a:extLst>
              <a:ext uri="{FF2B5EF4-FFF2-40B4-BE49-F238E27FC236}">
                <a16:creationId xmlns:a16="http://schemas.microsoft.com/office/drawing/2014/main" id="{0E2C314A-FF85-EEDE-FABC-C14B26A9F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" b="4474"/>
          <a:stretch>
            <a:fillRect/>
          </a:stretch>
        </p:blipFill>
        <p:spPr bwMode="auto">
          <a:xfrm>
            <a:off x="279141" y="301748"/>
            <a:ext cx="5221625" cy="3010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28DB3A-5004-9E5C-9C97-65D26B9F6AC3}"/>
              </a:ext>
            </a:extLst>
          </p:cNvPr>
          <p:cNvSpPr txBox="1"/>
          <p:nvPr/>
        </p:nvSpPr>
        <p:spPr>
          <a:xfrm>
            <a:off x="6326372" y="1148317"/>
            <a:ext cx="5259790" cy="52940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If we look at a </a:t>
            </a:r>
            <a:r>
              <a:rPr lang="en-US" sz="2800" dirty="0" err="1">
                <a:solidFill>
                  <a:schemeClr val="tx1">
                    <a:alpha val="80000"/>
                  </a:schemeClr>
                </a:solidFill>
              </a:rPr>
              <a:t>colour</a:t>
            </a: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 screen under a microscope, we can see that it is made of tiny </a:t>
            </a:r>
            <a:r>
              <a:rPr lang="en-US" sz="2800" b="1" dirty="0">
                <a:solidFill>
                  <a:schemeClr val="tx1">
                    <a:alpha val="80000"/>
                  </a:schemeClr>
                </a:solidFill>
              </a:rPr>
              <a:t>red</a:t>
            </a: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2800" b="1" dirty="0">
                <a:solidFill>
                  <a:schemeClr val="tx1">
                    <a:alpha val="80000"/>
                  </a:schemeClr>
                </a:solidFill>
              </a:rPr>
              <a:t>green</a:t>
            </a: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 and </a:t>
            </a:r>
            <a:r>
              <a:rPr lang="en-US" sz="2800" b="1" dirty="0">
                <a:solidFill>
                  <a:schemeClr val="tx1">
                    <a:alpha val="80000"/>
                  </a:schemeClr>
                </a:solidFill>
              </a:rPr>
              <a:t>blue</a:t>
            </a: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 lights.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8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Most computer software uses </a:t>
            </a:r>
            <a:r>
              <a:rPr lang="en-US" sz="2800" b="1" dirty="0">
                <a:solidFill>
                  <a:schemeClr val="tx1">
                    <a:alpha val="80000"/>
                  </a:schemeClr>
                </a:solidFill>
              </a:rPr>
              <a:t>a byte</a:t>
            </a: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 to measure how much red, green and blue are in a </a:t>
            </a:r>
            <a:r>
              <a:rPr lang="en-US" sz="2800" dirty="0" err="1">
                <a:solidFill>
                  <a:schemeClr val="tx1">
                    <a:alpha val="80000"/>
                  </a:schemeClr>
                </a:solidFill>
              </a:rPr>
              <a:t>colour</a:t>
            </a: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8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Remember, a byte can store any value from 0 to 255.</a:t>
            </a:r>
          </a:p>
        </p:txBody>
      </p:sp>
      <p:cxnSp>
        <p:nvCxnSpPr>
          <p:cNvPr id="2061" name="Straight Connector 206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3893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5760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BE559E-2571-4916-98C6-545AE4E20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11082C27-05DC-1D0D-45B2-6D23F00B4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53FB3ECE-6220-359E-511B-2A5D91B8B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Tilable Texture Display LCD RGB - Macro Stock Photo - Image: 28875880">
            <a:extLst>
              <a:ext uri="{FF2B5EF4-FFF2-40B4-BE49-F238E27FC236}">
                <a16:creationId xmlns:a16="http://schemas.microsoft.com/office/drawing/2014/main" id="{A0B56210-980C-2760-3109-4074788D5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9" b="11496"/>
          <a:stretch>
            <a:fillRect/>
          </a:stretch>
        </p:blipFill>
        <p:spPr bwMode="auto">
          <a:xfrm>
            <a:off x="279142" y="3613893"/>
            <a:ext cx="5221625" cy="3010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eyond CMYK: Adding More Colours to Your Ink Configuration | Roland DG">
            <a:extLst>
              <a:ext uri="{FF2B5EF4-FFF2-40B4-BE49-F238E27FC236}">
                <a16:creationId xmlns:a16="http://schemas.microsoft.com/office/drawing/2014/main" id="{13960722-40AF-A83E-2082-6518A16C2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" b="4474"/>
          <a:stretch>
            <a:fillRect/>
          </a:stretch>
        </p:blipFill>
        <p:spPr bwMode="auto">
          <a:xfrm>
            <a:off x="279141" y="301748"/>
            <a:ext cx="5221625" cy="3010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DD3FC0-FE2C-241D-21C5-E96B2E4214C9}"/>
              </a:ext>
            </a:extLst>
          </p:cNvPr>
          <p:cNvSpPr txBox="1"/>
          <p:nvPr/>
        </p:nvSpPr>
        <p:spPr>
          <a:xfrm>
            <a:off x="6326372" y="1148317"/>
            <a:ext cx="5259790" cy="52940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zh-CN" altLang="en-US" sz="2800" dirty="0">
                <a:solidFill>
                  <a:schemeClr val="tx1">
                    <a:alpha val="80000"/>
                  </a:schemeClr>
                </a:solidFill>
              </a:rPr>
              <a:t>如果我们在显微镜下观察彩色屏幕，可以看到它由微小的红、绿、蓝光组成。</a:t>
            </a:r>
            <a:endParaRPr lang="en-US" altLang="zh-CN" sz="28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8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zh-CN" altLang="en-US" sz="2800" dirty="0">
                <a:solidFill>
                  <a:schemeClr val="tx1">
                    <a:alpha val="80000"/>
                  </a:schemeClr>
                </a:solidFill>
              </a:rPr>
              <a:t>大多数计算机软件使用字节来测量颜色中红色、绿色和蓝色的比例。</a:t>
            </a:r>
            <a:endParaRPr lang="en-US" altLang="zh-CN" sz="28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8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zh-CN" altLang="en-US" sz="2800" dirty="0">
                <a:solidFill>
                  <a:schemeClr val="tx1">
                    <a:alpha val="80000"/>
                  </a:schemeClr>
                </a:solidFill>
              </a:rPr>
              <a:t>记住，一个字节可以存储</a:t>
            </a:r>
            <a:r>
              <a:rPr lang="en-US" altLang="zh-CN" sz="2800" dirty="0">
                <a:solidFill>
                  <a:schemeClr val="tx1">
                    <a:alpha val="80000"/>
                  </a:schemeClr>
                </a:solidFill>
              </a:rPr>
              <a:t>0</a:t>
            </a:r>
            <a:r>
              <a:rPr lang="zh-CN" altLang="en-US" sz="2800" dirty="0">
                <a:solidFill>
                  <a:schemeClr val="tx1">
                    <a:alpha val="80000"/>
                  </a:schemeClr>
                </a:solidFill>
              </a:rPr>
              <a:t>到</a:t>
            </a:r>
            <a:r>
              <a:rPr lang="en-US" altLang="zh-CN" sz="2800" dirty="0">
                <a:solidFill>
                  <a:schemeClr val="tx1">
                    <a:alpha val="80000"/>
                  </a:schemeClr>
                </a:solidFill>
              </a:rPr>
              <a:t>255</a:t>
            </a:r>
            <a:r>
              <a:rPr lang="zh-CN" altLang="en-US" sz="2800" dirty="0">
                <a:solidFill>
                  <a:schemeClr val="tx1">
                    <a:alpha val="80000"/>
                  </a:schemeClr>
                </a:solidFill>
              </a:rPr>
              <a:t>之间的任意值。</a:t>
            </a:r>
            <a:endParaRPr lang="en-US" sz="28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2061" name="Straight Connector 2060">
            <a:extLst>
              <a:ext uri="{FF2B5EF4-FFF2-40B4-BE49-F238E27FC236}">
                <a16:creationId xmlns:a16="http://schemas.microsoft.com/office/drawing/2014/main" id="{AA9B57AA-37BD-A35F-B6F1-C496E6F81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3893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749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25FBEB-068F-DC1A-AF39-7B5F9BA0C365}"/>
              </a:ext>
            </a:extLst>
          </p:cNvPr>
          <p:cNvSpPr txBox="1"/>
          <p:nvPr/>
        </p:nvSpPr>
        <p:spPr>
          <a:xfrm>
            <a:off x="574157" y="239486"/>
            <a:ext cx="11258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So we can write the </a:t>
            </a:r>
            <a:r>
              <a:rPr lang="en-US" sz="2800" dirty="0" err="1"/>
              <a:t>colour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red</a:t>
            </a:r>
            <a:r>
              <a:rPr lang="en-US" sz="2800" dirty="0"/>
              <a:t> as: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0DDC61A-82B0-74B0-A7B6-6276EC7EA9EB}"/>
              </a:ext>
            </a:extLst>
          </p:cNvPr>
          <p:cNvCxnSpPr>
            <a:cxnSpLocks/>
          </p:cNvCxnSpPr>
          <p:nvPr/>
        </p:nvCxnSpPr>
        <p:spPr>
          <a:xfrm flipV="1">
            <a:off x="2514599" y="1562596"/>
            <a:ext cx="244549" cy="3615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A3F2CD0-6E1A-54B2-9564-7CAA4B7C440B}"/>
              </a:ext>
            </a:extLst>
          </p:cNvPr>
          <p:cNvSpPr txBox="1"/>
          <p:nvPr/>
        </p:nvSpPr>
        <p:spPr>
          <a:xfrm>
            <a:off x="1002864" y="1994328"/>
            <a:ext cx="23437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Maximum amount of red.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1691F7-DAF1-6B15-DD0F-C4382955D599}"/>
              </a:ext>
            </a:extLst>
          </p:cNvPr>
          <p:cNvSpPr txBox="1"/>
          <p:nvPr/>
        </p:nvSpPr>
        <p:spPr>
          <a:xfrm>
            <a:off x="3346597" y="2004639"/>
            <a:ext cx="20299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No green or blue light.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216C33-358C-C31D-35A1-8185F45EFF6F}"/>
              </a:ext>
            </a:extLst>
          </p:cNvPr>
          <p:cNvCxnSpPr>
            <a:cxnSpLocks/>
          </p:cNvCxnSpPr>
          <p:nvPr/>
        </p:nvCxnSpPr>
        <p:spPr>
          <a:xfrm flipH="1" flipV="1">
            <a:off x="3889960" y="1550176"/>
            <a:ext cx="329609" cy="3292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0A7CD28-EA06-B0BF-9368-B67C5F8C3941}"/>
              </a:ext>
            </a:extLst>
          </p:cNvPr>
          <p:cNvSpPr txBox="1"/>
          <p:nvPr/>
        </p:nvSpPr>
        <p:spPr>
          <a:xfrm>
            <a:off x="2122524" y="946167"/>
            <a:ext cx="24481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(255, 0, 0)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4147FB-0763-31DF-9C40-BA74CFCA4D8F}"/>
              </a:ext>
            </a:extLst>
          </p:cNvPr>
          <p:cNvSpPr txBox="1"/>
          <p:nvPr/>
        </p:nvSpPr>
        <p:spPr>
          <a:xfrm>
            <a:off x="574156" y="3872920"/>
            <a:ext cx="11258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Similarly, the </a:t>
            </a:r>
            <a:r>
              <a:rPr lang="en-US" sz="2800" dirty="0" err="1"/>
              <a:t>colour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FF00"/>
                </a:solidFill>
              </a:rPr>
              <a:t>green</a:t>
            </a:r>
            <a:r>
              <a:rPr lang="en-US" sz="2800" dirty="0"/>
              <a:t> would be: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9F492F-5E26-2427-CBFE-B581892DDEBE}"/>
              </a:ext>
            </a:extLst>
          </p:cNvPr>
          <p:cNvSpPr txBox="1"/>
          <p:nvPr/>
        </p:nvSpPr>
        <p:spPr>
          <a:xfrm>
            <a:off x="6555414" y="3791464"/>
            <a:ext cx="24481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(0, 255, 0)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5782D7-A57A-D767-2291-A405F16975D2}"/>
              </a:ext>
            </a:extLst>
          </p:cNvPr>
          <p:cNvSpPr txBox="1"/>
          <p:nvPr/>
        </p:nvSpPr>
        <p:spPr>
          <a:xfrm>
            <a:off x="574156" y="4808752"/>
            <a:ext cx="11258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And the </a:t>
            </a:r>
            <a:r>
              <a:rPr lang="en-US" sz="2800" dirty="0" err="1"/>
              <a:t>colour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00FF"/>
                </a:solidFill>
              </a:rPr>
              <a:t>blue</a:t>
            </a:r>
            <a:r>
              <a:rPr lang="en-US" sz="2800" dirty="0"/>
              <a:t> would be: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3E9C07-1FD1-2878-3F6D-497F7457AB5C}"/>
              </a:ext>
            </a:extLst>
          </p:cNvPr>
          <p:cNvSpPr txBox="1"/>
          <p:nvPr/>
        </p:nvSpPr>
        <p:spPr>
          <a:xfrm>
            <a:off x="6555414" y="4727296"/>
            <a:ext cx="24481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(0, 0, 255)</a:t>
            </a:r>
          </a:p>
        </p:txBody>
      </p:sp>
      <p:sp>
        <p:nvSpPr>
          <p:cNvPr id="19" name="AutoShape 2" descr="Dispersion of Light through a Prism - GeeksforGeeks">
            <a:extLst>
              <a:ext uri="{FF2B5EF4-FFF2-40B4-BE49-F238E27FC236}">
                <a16:creationId xmlns:a16="http://schemas.microsoft.com/office/drawing/2014/main" id="{99AC4043-C2A9-D28F-ED8A-D9F2E0FBB3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96223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DC3B471-27DB-3B1C-92C3-916D3666F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107" y="346268"/>
            <a:ext cx="5525386" cy="25969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7559BBC-1603-6F41-4B92-3E12BCDC04A2}"/>
              </a:ext>
            </a:extLst>
          </p:cNvPr>
          <p:cNvSpPr txBox="1"/>
          <p:nvPr/>
        </p:nvSpPr>
        <p:spPr>
          <a:xfrm>
            <a:off x="574156" y="5744584"/>
            <a:ext cx="11258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What about this </a:t>
            </a:r>
            <a:r>
              <a:rPr lang="en-US" sz="2800" dirty="0" err="1"/>
              <a:t>colour</a:t>
            </a:r>
            <a:r>
              <a:rPr lang="en-US" sz="2800" dirty="0"/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DE018-0BC7-7E39-CEA0-85C4E314537D}"/>
              </a:ext>
            </a:extLst>
          </p:cNvPr>
          <p:cNvSpPr txBox="1"/>
          <p:nvPr/>
        </p:nvSpPr>
        <p:spPr>
          <a:xfrm>
            <a:off x="6634716" y="5621473"/>
            <a:ext cx="27385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(255, 255, 0)</a:t>
            </a:r>
          </a:p>
        </p:txBody>
      </p:sp>
    </p:spTree>
    <p:extLst>
      <p:ext uri="{BB962C8B-B14F-4D97-AF65-F5344CB8AC3E}">
        <p14:creationId xmlns:p14="http://schemas.microsoft.com/office/powerpoint/2010/main" val="468628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21A1057-3187-A59A-E689-31D79BEE6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98" y="292284"/>
            <a:ext cx="4514850" cy="3381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3D396A-E448-ABBF-F440-9EEC7A16300D}"/>
              </a:ext>
            </a:extLst>
          </p:cNvPr>
          <p:cNvSpPr txBox="1"/>
          <p:nvPr/>
        </p:nvSpPr>
        <p:spPr>
          <a:xfrm>
            <a:off x="5083629" y="293914"/>
            <a:ext cx="679268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RGB is not the only </a:t>
            </a:r>
            <a:r>
              <a:rPr lang="en-US" sz="2800" dirty="0" err="1"/>
              <a:t>colour</a:t>
            </a:r>
            <a:r>
              <a:rPr lang="en-US" sz="2800" dirty="0"/>
              <a:t> system in use for computing.</a:t>
            </a:r>
          </a:p>
          <a:p>
            <a:endParaRPr lang="en-US" sz="2800" dirty="0"/>
          </a:p>
          <a:p>
            <a:r>
              <a:rPr lang="en-US" sz="2800" dirty="0"/>
              <a:t>For digital art and design, the HSV </a:t>
            </a:r>
            <a:r>
              <a:rPr lang="en-US" sz="2800" dirty="0" err="1"/>
              <a:t>colour</a:t>
            </a:r>
            <a:r>
              <a:rPr lang="en-US" sz="2800" dirty="0"/>
              <a:t> system is very popular.</a:t>
            </a:r>
          </a:p>
          <a:p>
            <a:endParaRPr lang="en-US" sz="2800" dirty="0"/>
          </a:p>
          <a:p>
            <a:r>
              <a:rPr lang="en-US" sz="2800" dirty="0"/>
              <a:t>Investigate the HSV </a:t>
            </a:r>
            <a:r>
              <a:rPr lang="en-US" sz="2800" dirty="0" err="1"/>
              <a:t>colour</a:t>
            </a:r>
            <a:r>
              <a:rPr lang="en-US" sz="2800" dirty="0"/>
              <a:t> system.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1ED904-BBDE-D5A2-DBDB-02F25ED46C1D}"/>
              </a:ext>
            </a:extLst>
          </p:cNvPr>
          <p:cNvSpPr txBox="1"/>
          <p:nvPr/>
        </p:nvSpPr>
        <p:spPr>
          <a:xfrm>
            <a:off x="319198" y="3886430"/>
            <a:ext cx="1149246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How does HSV </a:t>
            </a:r>
            <a:r>
              <a:rPr lang="en-US" sz="2800" dirty="0" err="1"/>
              <a:t>colour</a:t>
            </a:r>
            <a:r>
              <a:rPr lang="en-US" sz="2800" dirty="0"/>
              <a:t> work?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Why is it useful for artists and designers?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Does every RGB </a:t>
            </a:r>
            <a:r>
              <a:rPr lang="en-US" sz="2800" dirty="0" err="1"/>
              <a:t>colour</a:t>
            </a:r>
            <a:r>
              <a:rPr lang="en-US" sz="2800" dirty="0"/>
              <a:t> match exactly one HSV </a:t>
            </a:r>
            <a:r>
              <a:rPr lang="en-US" sz="2800" dirty="0" err="1"/>
              <a:t>colour</a:t>
            </a:r>
            <a:r>
              <a:rPr lang="en-US" sz="2800" dirty="0"/>
              <a:t>?</a:t>
            </a:r>
            <a:br>
              <a:rPr lang="en-US" sz="2800" dirty="0"/>
            </a:br>
            <a:r>
              <a:rPr lang="en-US" sz="2800" dirty="0"/>
              <a:t>Does every HSV </a:t>
            </a:r>
            <a:r>
              <a:rPr lang="en-US" sz="2800" dirty="0" err="1"/>
              <a:t>colour</a:t>
            </a:r>
            <a:r>
              <a:rPr lang="en-US" sz="2800" dirty="0"/>
              <a:t> match exactly one RGB </a:t>
            </a:r>
            <a:r>
              <a:rPr lang="en-US" sz="2800" dirty="0" err="1"/>
              <a:t>colour</a:t>
            </a:r>
            <a:r>
              <a:rPr lang="en-US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46869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C39CF-F073-130B-61E3-ACE969A26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B2EF88-D257-B101-70A0-3CB2E7961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98" y="292284"/>
            <a:ext cx="4514850" cy="3381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96479C-3ECF-A4E4-569A-E4BFD4C2F27A}"/>
              </a:ext>
            </a:extLst>
          </p:cNvPr>
          <p:cNvSpPr txBox="1"/>
          <p:nvPr/>
        </p:nvSpPr>
        <p:spPr>
          <a:xfrm>
            <a:off x="5083629" y="293914"/>
            <a:ext cx="67926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RGB</a:t>
            </a:r>
            <a:r>
              <a:rPr lang="zh-CN" altLang="en-US" sz="2800" dirty="0"/>
              <a:t>并不是计算中唯一的彩色系统。</a:t>
            </a:r>
            <a:endParaRPr lang="en-US" altLang="zh-CN" sz="2800" dirty="0"/>
          </a:p>
          <a:p>
            <a:endParaRPr lang="en-US" sz="2800" dirty="0"/>
          </a:p>
          <a:p>
            <a:r>
              <a:rPr lang="zh-CN" altLang="en-US" sz="2800" dirty="0"/>
              <a:t>在数字艺术和设计领域，</a:t>
            </a:r>
            <a:r>
              <a:rPr lang="en-US" altLang="zh-CN" sz="2800" dirty="0"/>
              <a:t>HSV</a:t>
            </a:r>
            <a:r>
              <a:rPr lang="zh-CN" altLang="en-US" sz="2800" dirty="0"/>
              <a:t>彩色系统非常受欢迎。</a:t>
            </a:r>
            <a:endParaRPr lang="en-US" altLang="zh-CN" sz="2800" dirty="0"/>
          </a:p>
          <a:p>
            <a:endParaRPr lang="en-US" sz="2800" dirty="0"/>
          </a:p>
          <a:p>
            <a:r>
              <a:rPr lang="zh-CN" altLang="en-US" sz="2800" dirty="0"/>
              <a:t>调查</a:t>
            </a:r>
            <a:r>
              <a:rPr lang="en-US" altLang="zh-CN" sz="2800" dirty="0"/>
              <a:t>HSV</a:t>
            </a:r>
            <a:r>
              <a:rPr lang="zh-CN" altLang="en-US" sz="2800" dirty="0"/>
              <a:t>的颜色系统。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F46B8C-8C3D-537A-F7FA-6A74C417D5A0}"/>
              </a:ext>
            </a:extLst>
          </p:cNvPr>
          <p:cNvSpPr txBox="1"/>
          <p:nvPr/>
        </p:nvSpPr>
        <p:spPr>
          <a:xfrm>
            <a:off x="319198" y="3886430"/>
            <a:ext cx="1149246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sz="2800" dirty="0"/>
              <a:t>HSV</a:t>
            </a:r>
            <a:r>
              <a:rPr lang="zh-CN" altLang="en-US" sz="2800" dirty="0"/>
              <a:t>颜色是如何工作的？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为什么它对艺术家和设计师有用？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每个</a:t>
            </a:r>
            <a:r>
              <a:rPr lang="en-US" altLang="zh-CN" sz="2800" dirty="0"/>
              <a:t>RGB</a:t>
            </a:r>
            <a:r>
              <a:rPr lang="zh-CN" altLang="en-US" sz="2800" dirty="0"/>
              <a:t>颜色是否都恰好对应一种</a:t>
            </a:r>
            <a:r>
              <a:rPr lang="en-US" altLang="zh-CN" sz="2800" dirty="0"/>
              <a:t>HSV</a:t>
            </a:r>
            <a:r>
              <a:rPr lang="zh-CN" altLang="en-US" sz="2800" dirty="0"/>
              <a:t>颜色？</a:t>
            </a:r>
            <a:br>
              <a:rPr lang="en-US" sz="2800" dirty="0"/>
            </a:br>
            <a:r>
              <a:rPr lang="zh-CN" altLang="en-US" sz="2800" dirty="0"/>
              <a:t>每个</a:t>
            </a:r>
            <a:r>
              <a:rPr lang="en-US" altLang="zh-CN" sz="2800" dirty="0"/>
              <a:t>HSV</a:t>
            </a:r>
            <a:r>
              <a:rPr lang="zh-CN" altLang="en-US" sz="2800" dirty="0"/>
              <a:t>颜色是否都恰好匹配一种</a:t>
            </a:r>
            <a:r>
              <a:rPr lang="en-US" altLang="zh-CN" sz="2800" dirty="0"/>
              <a:t>RGB</a:t>
            </a:r>
            <a:r>
              <a:rPr lang="zh-CN" altLang="en-US" sz="2800" dirty="0"/>
              <a:t>颜色？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22166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66FBB-67BE-A69F-F9C6-4BA4E7FDC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C6E4CA-1E80-4100-99B1-233008C8B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10" y="566260"/>
            <a:ext cx="2019957" cy="19906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3DA092-4656-DC4F-2501-FEB65BD0FBBB}"/>
              </a:ext>
            </a:extLst>
          </p:cNvPr>
          <p:cNvSpPr txBox="1"/>
          <p:nvPr/>
        </p:nvSpPr>
        <p:spPr>
          <a:xfrm>
            <a:off x="2631687" y="869103"/>
            <a:ext cx="93112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This circle displays every possible shade of red.</a:t>
            </a:r>
          </a:p>
          <a:p>
            <a:r>
              <a:rPr lang="en-US" sz="2800" dirty="0"/>
              <a:t>However, it is not a smooth gradient.</a:t>
            </a:r>
          </a:p>
          <a:p>
            <a:r>
              <a:rPr lang="en-US" sz="2800" dirty="0"/>
              <a:t>There is a </a:t>
            </a:r>
            <a:r>
              <a:rPr lang="en-US" sz="2800" b="1" dirty="0"/>
              <a:t>discontinuity</a:t>
            </a:r>
            <a:r>
              <a:rPr lang="en-US" sz="2800" dirty="0"/>
              <a:t> at the top, from bright red to black.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BFF239-4594-DFDA-1E7A-F08E5FCC3FCF}"/>
              </a:ext>
            </a:extLst>
          </p:cNvPr>
          <p:cNvSpPr txBox="1"/>
          <p:nvPr/>
        </p:nvSpPr>
        <p:spPr>
          <a:xfrm>
            <a:off x="654203" y="2999696"/>
            <a:ext cx="1068658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Is it possible to display every shade of red in a smooth </a:t>
            </a:r>
            <a:r>
              <a:rPr lang="en-US" sz="2800" dirty="0" err="1"/>
              <a:t>colour</a:t>
            </a:r>
            <a:r>
              <a:rPr lang="en-US" sz="2800" dirty="0"/>
              <a:t> circle, without any discontinuity?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Is it possible to display a smooth </a:t>
            </a:r>
            <a:r>
              <a:rPr lang="en-US" sz="2800" dirty="0" err="1"/>
              <a:t>colour</a:t>
            </a:r>
            <a:r>
              <a:rPr lang="en-US" sz="2800" dirty="0"/>
              <a:t> circle with every shade of red and green combined?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Is it possible to display a smooth </a:t>
            </a:r>
            <a:r>
              <a:rPr lang="en-US" sz="2800" dirty="0" err="1"/>
              <a:t>colour</a:t>
            </a:r>
            <a:r>
              <a:rPr lang="en-US" sz="2800" dirty="0"/>
              <a:t> circle with every possible </a:t>
            </a:r>
            <a:r>
              <a:rPr lang="en-US" sz="2800" dirty="0" err="1"/>
              <a:t>colour</a:t>
            </a:r>
            <a:r>
              <a:rPr lang="en-US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0727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56897-ABF4-0917-DA65-7CB8A5C0A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E4A0A3-DD8F-7B20-5564-F0318BDA1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10" y="566260"/>
            <a:ext cx="2019957" cy="19906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8F00C6-B191-2B0F-E2C0-55296CABFC9A}"/>
              </a:ext>
            </a:extLst>
          </p:cNvPr>
          <p:cNvSpPr txBox="1"/>
          <p:nvPr/>
        </p:nvSpPr>
        <p:spPr>
          <a:xfrm>
            <a:off x="2631687" y="869103"/>
            <a:ext cx="93112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这个圆圈展示了所有可能的红色调。
然而，这并不是平滑的梯度。
顶部有不连续的部分，从鲜红到黑色。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D8FCFF-C811-E7F8-D87F-328BD8176187}"/>
              </a:ext>
            </a:extLst>
          </p:cNvPr>
          <p:cNvSpPr txBox="1"/>
          <p:nvPr/>
        </p:nvSpPr>
        <p:spPr>
          <a:xfrm>
            <a:off x="654203" y="2999696"/>
            <a:ext cx="1068658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是否有可能将所有红色调都显示成平滑的色圈，且没有任何不连续？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有没有可能用各种红色和绿色的色调来显示一个平滑的色圈？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有没有可能用所有可能的颜色显示一个平滑的色圈？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02986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747</Words>
  <Application>Microsoft Office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Lewis Cressey (DHHQ)</dc:creator>
  <cp:lastModifiedBy>Lewis Cressey (DHHQ)</cp:lastModifiedBy>
  <cp:revision>6</cp:revision>
  <dcterms:created xsi:type="dcterms:W3CDTF">2026-06-09T00:12:14Z</dcterms:created>
  <dcterms:modified xsi:type="dcterms:W3CDTF">2026-06-09T02:11:37Z</dcterms:modified>
</cp:coreProperties>
</file>